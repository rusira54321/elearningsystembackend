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5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6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7.xml" ContentType="application/vnd.openxmlformats-officedocument.theme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8.xml" ContentType="application/vnd.openxmlformats-officedocument.theme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theme/theme9.xml" ContentType="application/vnd.openxmlformats-officedocument.theme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theme/theme1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74" r:id="rId3"/>
    <p:sldMasterId id="2147483686" r:id="rId4"/>
    <p:sldMasterId id="2147483699" r:id="rId5"/>
    <p:sldMasterId id="2147483711" r:id="rId6"/>
    <p:sldMasterId id="2147483723" r:id="rId7"/>
    <p:sldMasterId id="2147483735" r:id="rId8"/>
    <p:sldMasterId id="2147483750" r:id="rId9"/>
    <p:sldMasterId id="2147483764" r:id="rId10"/>
  </p:sldMasterIdLst>
  <p:sldIdLst>
    <p:sldId id="286" r:id="rId11"/>
    <p:sldId id="257" r:id="rId12"/>
    <p:sldId id="258" r:id="rId13"/>
    <p:sldId id="259" r:id="rId14"/>
    <p:sldId id="260" r:id="rId15"/>
    <p:sldId id="261" r:id="rId16"/>
    <p:sldId id="265" r:id="rId17"/>
    <p:sldId id="266" r:id="rId18"/>
    <p:sldId id="267" r:id="rId19"/>
    <p:sldId id="268" r:id="rId20"/>
    <p:sldId id="269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5" autoAdjust="0"/>
    <p:restoredTop sz="94660"/>
  </p:normalViewPr>
  <p:slideViewPr>
    <p:cSldViewPr snapToGrid="0" showGuides="1">
      <p:cViewPr varScale="1">
        <p:scale>
          <a:sx n="76" d="100"/>
          <a:sy n="76" d="100"/>
        </p:scale>
        <p:origin x="414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1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9622F-DC27-6E4D-80EB-5A6117330FAE}" type="datetime1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7353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A6B0-E07D-7A4E-9C17-34F6E529FF07}" type="datetime1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8595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43CC3-6E6E-6643-828B-49F62B8D27E7}" type="datetime1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28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AE71E-C708-8048-B873-9764252AFD88}" type="datetime1">
              <a:rPr lang="en-US" smtClean="0"/>
              <a:t>3/6/2023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5596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2E0B2-8F0E-E541-A881-26952164E626}" type="datetime1">
              <a:rPr lang="en-US" smtClean="0"/>
              <a:t>3/6/2023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6497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28D78-157E-6441-A2E9-690CAD17061D}" type="datetime1">
              <a:rPr lang="en-US" smtClean="0"/>
              <a:t>3/6/2023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250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DEEC-6BE6-484F-BFF5-6191A744CE89}" type="datetime1">
              <a:rPr lang="en-US" smtClean="0"/>
              <a:t>3/6/2023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1937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79F4-DB7F-AD41-A0BB-29D2BAB33E6B}" type="datetime1">
              <a:rPr lang="en-US" smtClean="0"/>
              <a:t>3/6/2023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9671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6C5C7-3D40-D147-8474-4CAF78E28128}" type="datetime1">
              <a:rPr lang="en-US" smtClean="0"/>
              <a:t>3/6/2023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22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DCC7-F5A3-F54A-8412-78F07FF2601F}" type="datetime1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303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FF6D2-335C-6748-BEAD-B38E52C128C7}" type="datetime1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97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xmlns="" id="{E241D156-A2A4-AA41-8F24-6F29CD9140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xmlns="" id="{F01D8E5F-8265-9840-9341-6C27A5EEB5E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11" name="Text Placeholder 6">
            <a:extLst>
              <a:ext uri="{FF2B5EF4-FFF2-40B4-BE49-F238E27FC236}">
                <a16:creationId xmlns:a16="http://schemas.microsoft.com/office/drawing/2014/main" xmlns="" id="{AFEC7928-F94D-C141-9599-44AA58DCD2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2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342900" indent="0">
              <a:buNone/>
              <a:defRPr sz="3300"/>
            </a:lvl2pPr>
            <a:lvl3pPr marL="685800" indent="0">
              <a:buNone/>
              <a:defRPr sz="3000"/>
            </a:lvl3pPr>
            <a:lvl4pPr marL="1028700" indent="0">
              <a:buNone/>
              <a:defRPr sz="2700"/>
            </a:lvl4pPr>
            <a:lvl5pPr marL="1371600" indent="0">
              <a:buNone/>
              <a:defRPr sz="27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xmlns="" id="{6A55C290-0B7A-CD49-8ED4-25631D938F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10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700"/>
            </a:lvl1pPr>
            <a:lvl2pPr marL="342900" indent="0">
              <a:buNone/>
              <a:defRPr sz="3300"/>
            </a:lvl2pPr>
            <a:lvl3pPr marL="685800" indent="0">
              <a:buNone/>
              <a:defRPr sz="3000"/>
            </a:lvl3pPr>
            <a:lvl4pPr marL="1028700" indent="0">
              <a:buNone/>
              <a:defRPr sz="2700"/>
            </a:lvl4pPr>
            <a:lvl5pPr marL="1371600" indent="0">
              <a:buNone/>
              <a:defRPr sz="2700"/>
            </a:lvl5pPr>
          </a:lstStyle>
          <a:p>
            <a:pPr lvl="0"/>
            <a:r>
              <a:rPr lang="en-GB" sz="2700" dirty="0"/>
              <a:t>Lecture N</a:t>
            </a:r>
          </a:p>
          <a:p>
            <a:pPr lvl="0"/>
            <a:r>
              <a:rPr lang="en-GB" sz="2700" dirty="0"/>
              <a:t>Topic</a:t>
            </a:r>
          </a:p>
          <a:p>
            <a:pPr lvl="0"/>
            <a:r>
              <a:rPr lang="en-GB" sz="27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1256286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9622F-DC27-6E4D-80EB-5A6117330FAE}" type="datetime1">
              <a:rPr lang="en-US" smtClean="0"/>
              <a:t>3/6/2023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80800" y="6385720"/>
            <a:ext cx="609600" cy="365125"/>
          </a:xfrm>
          <a:prstGeom prst="rect">
            <a:avLst/>
          </a:prstGeom>
        </p:spPr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843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xmlns="" id="{E241D156-A2A4-AA41-8F24-6F29CD9140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xmlns="" id="{F01D8E5F-8265-9840-9341-6C27A5EEB5E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11" name="Text Placeholder 6">
            <a:extLst>
              <a:ext uri="{FF2B5EF4-FFF2-40B4-BE49-F238E27FC236}">
                <a16:creationId xmlns:a16="http://schemas.microsoft.com/office/drawing/2014/main" xmlns="" id="{AFEC7928-F94D-C141-9599-44AA58DCD2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2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342900" indent="0">
              <a:buNone/>
              <a:defRPr sz="3300"/>
            </a:lvl2pPr>
            <a:lvl3pPr marL="685800" indent="0">
              <a:buNone/>
              <a:defRPr sz="3000"/>
            </a:lvl3pPr>
            <a:lvl4pPr marL="1028700" indent="0">
              <a:buNone/>
              <a:defRPr sz="2700"/>
            </a:lvl4pPr>
            <a:lvl5pPr marL="1371600" indent="0">
              <a:buNone/>
              <a:defRPr sz="27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xmlns="" id="{6A55C290-0B7A-CD49-8ED4-25631D938F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10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700"/>
            </a:lvl1pPr>
            <a:lvl2pPr marL="342900" indent="0">
              <a:buNone/>
              <a:defRPr sz="3300"/>
            </a:lvl2pPr>
            <a:lvl3pPr marL="685800" indent="0">
              <a:buNone/>
              <a:defRPr sz="3000"/>
            </a:lvl3pPr>
            <a:lvl4pPr marL="1028700" indent="0">
              <a:buNone/>
              <a:defRPr sz="2700"/>
            </a:lvl4pPr>
            <a:lvl5pPr marL="1371600" indent="0">
              <a:buNone/>
              <a:defRPr sz="2700"/>
            </a:lvl5pPr>
          </a:lstStyle>
          <a:p>
            <a:pPr lvl="0"/>
            <a:r>
              <a:rPr lang="en-GB" sz="2700" dirty="0"/>
              <a:t>Lecture N</a:t>
            </a:r>
          </a:p>
          <a:p>
            <a:pPr lvl="0"/>
            <a:r>
              <a:rPr lang="en-GB" sz="2700" dirty="0"/>
              <a:t>Topic</a:t>
            </a:r>
          </a:p>
          <a:p>
            <a:pPr lvl="0"/>
            <a:r>
              <a:rPr lang="en-GB" sz="27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5388851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267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A6B0-E07D-7A4E-9C17-34F6E529FF07}" type="datetime1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6584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9622F-DC27-6E4D-80EB-5A6117330FAE}" type="datetime1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9517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A6B0-E07D-7A4E-9C17-34F6E529FF07}" type="datetime1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596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43CC3-6E6E-6643-828B-49F62B8D27E7}" type="datetime1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6265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AE71E-C708-8048-B873-9764252AFD88}" type="datetime1">
              <a:rPr lang="en-US" smtClean="0"/>
              <a:t>3/6/2023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606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2E0B2-8F0E-E541-A881-26952164E626}" type="datetime1">
              <a:rPr lang="en-US" smtClean="0"/>
              <a:t>3/6/2023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0319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28D78-157E-6441-A2E9-690CAD17061D}" type="datetime1">
              <a:rPr lang="en-US" smtClean="0"/>
              <a:t>3/6/2023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2176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DEEC-6BE6-484F-BFF5-6191A744CE89}" type="datetime1">
              <a:rPr lang="en-US" smtClean="0"/>
              <a:t>3/6/2023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6996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79F4-DB7F-AD41-A0BB-29D2BAB33E6B}" type="datetime1">
              <a:rPr lang="en-US" smtClean="0"/>
              <a:t>3/6/2023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9631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6C5C7-3D40-D147-8474-4CAF78E28128}" type="datetime1">
              <a:rPr lang="en-US" smtClean="0"/>
              <a:t>3/6/2023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1999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DCC7-F5A3-F54A-8412-78F07FF2601F}" type="datetime1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7841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FF6D2-335C-6748-BEAD-B38E52C128C7}" type="datetime1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8519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xmlns="" id="{1EEF7828-B2C2-6249-ACC8-7F26D0269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C29E6-4FCB-2845-BF22-D83D87980FEA}" type="datetime1">
              <a:rPr lang="en-US" smtClean="0"/>
              <a:t>3/6/2023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4FDA9DA1-CE52-8443-B8D6-E23FE3EF4E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pic>
        <p:nvPicPr>
          <p:cNvPr id="16" name="Picture 15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6374280-EE02-3945-8F18-DCD500B9C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xmlns="" id="{D939BDE5-D244-FF40-80F2-B60858EDCF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623705378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A6B0-E07D-7A4E-9C17-34F6E529FF07}" type="datetime1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4634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43CC3-6E6E-6643-828B-49F62B8D27E7}" type="datetime1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9118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AE71E-C708-8048-B873-9764252AFD88}" type="datetime1">
              <a:rPr lang="en-US" smtClean="0"/>
              <a:t>3/6/2023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6397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2E0B2-8F0E-E541-A881-26952164E626}" type="datetime1">
              <a:rPr lang="en-US" smtClean="0"/>
              <a:t>3/6/2023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2223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28D78-157E-6441-A2E9-690CAD17061D}" type="datetime1">
              <a:rPr lang="en-US" smtClean="0"/>
              <a:t>3/6/2023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1311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DEEC-6BE6-484F-BFF5-6191A744CE89}" type="datetime1">
              <a:rPr lang="en-US" smtClean="0"/>
              <a:t>3/6/2023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02837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79F4-DB7F-AD41-A0BB-29D2BAB33E6B}" type="datetime1">
              <a:rPr lang="en-US" smtClean="0"/>
              <a:t>3/6/2023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0862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6C5C7-3D40-D147-8474-4CAF78E28128}" type="datetime1">
              <a:rPr lang="en-US" smtClean="0"/>
              <a:t>3/6/2023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3842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DCC7-F5A3-F54A-8412-78F07FF2601F}" type="datetime1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7272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FF6D2-335C-6748-BEAD-B38E52C128C7}" type="datetime1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60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9622F-DC27-6E4D-80EB-5A6117330FAE}" type="datetime1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9508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xmlns="" id="{E241D156-A2A4-AA41-8F24-6F29CD9140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xmlns="" id="{F01D8E5F-8265-9840-9341-6C27A5EEB5E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11" name="Text Placeholder 6">
            <a:extLst>
              <a:ext uri="{FF2B5EF4-FFF2-40B4-BE49-F238E27FC236}">
                <a16:creationId xmlns:a16="http://schemas.microsoft.com/office/drawing/2014/main" xmlns="" id="{AFEC7928-F94D-C141-9599-44AA58DCD2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xmlns="" id="{6A55C290-0B7A-CD49-8ED4-25631D938F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99595718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E814671-2548-9B4A-BC90-1ABE62759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C5569FD-E7A8-A74A-A927-2163C5DE8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F2D0C97-F2BE-1F46-8DF3-8613C7F29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AD5D1BA-4427-5F48-BCA8-775A2EAA8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31FA457-CD19-7E42-BCE7-19B42ECF4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8265675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C28224-E7F2-D948-A75F-27BE76022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A73274C-2B21-0E4A-A8E9-C4D4E96E6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42E7795-320A-AC41-9319-FA00A973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3C24889-94C4-FE4A-9EBD-FA34D0443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06BF730-9B59-8B4F-B1CD-A90E43E43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214619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9371C7E-F47F-A740-8161-500BA0D2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7DE7F3-B809-3045-901F-BB37003309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FCA977B-1B4C-1849-A510-DDB31D1A93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56FE30D-E1F2-764A-9FF3-4DDFE8D0F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8037FC9-FF28-704F-8F73-3DCC03041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8239922-8FF3-334D-8AC6-167CC3AB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5108488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E6440F-30BD-EC47-8F28-28E35C0CE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69DA827-0A00-0648-B3C1-5EB6984BE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6653E0A-ADA9-D640-8D2A-C335F0671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EAEB8E11-FD7A-4B4D-8CC4-981C10EC3E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02637FC6-D39A-6640-BEFD-A3934C1D67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4B38863D-C098-2A48-85BA-53A743E6A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858E1737-7D3B-AC4D-B2DE-7CAB5F1F0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36FC1A37-0D4F-1E44-AB54-2A9C08D72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7146653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AD0CF2-4FE2-0C4E-AEC9-EB428EBA2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1089262-86FD-7942-AE17-870A15962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98D7CE8-E9C6-394E-9DAE-F509FDB9E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AEAA6A5-D0FA-D541-A385-0FA4D8DE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293717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0B41372-4AA9-3441-B767-BA047677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BEC336D2-6CA7-5E40-BEA6-53E1620E2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09F1234-6AFD-AA4B-B051-5E11EF962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6756743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33361E-BD52-844C-8A6A-E222CA600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74FF224-5B8F-DB4D-81C2-5F1D81FE3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93F5B4C-BF1F-734B-BC03-36188B6CA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D1B5693-0A12-1148-B9BA-7B0E67A4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BA2E3EC-0501-DA47-9535-DE116BB81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50B25EA-A6C9-354B-8B1D-1EEAC246E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4111791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5C0641-E214-4E42-B539-42FF88BF0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50E43784-F0EF-6F42-B7A0-9379BC2273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01D639B-E1B6-AD43-9162-E3F155046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C16F307-58F8-994F-98FB-536A4E056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7E646F2-FC06-4C49-B044-3A96AD885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3C1C94D-A47C-FE48-BD38-11973AF91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19711589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CA67E0F-1F1B-A847-8BEA-0716D072C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4A535DE-2758-BE47-87AA-DA04AB40BF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B130FD5-1ECF-064E-B6B3-F6EC46746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0E3543A-6C83-194B-8589-B5C624CEC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88BD9C0-70AE-A44A-8305-6C32BDB15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1699192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DCDC077D-2EDB-BC42-B959-CEA813812D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40515B0-AD48-6E41-AC9E-DEC15DB568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26F8E1C-5EA0-3D4A-B64B-FD9A0F2E5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0AC8324-3C92-E941-B869-105EBE245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C4F6284-20B3-0840-8AEA-87581B17C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9504346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xmlns="" id="{C24D18CF-89A3-BF48-A490-7D1906AD74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xmlns="" id="{36E61CA8-E35C-2448-901A-D4F36D20125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13" name="Text Placeholder 6">
            <a:extLst>
              <a:ext uri="{FF2B5EF4-FFF2-40B4-BE49-F238E27FC236}">
                <a16:creationId xmlns:a16="http://schemas.microsoft.com/office/drawing/2014/main" xmlns="" id="{2F6304E1-D957-4548-8D94-C8F685FDB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xmlns="" id="{2949BD21-1F58-F74D-9D98-21A3ADDDC7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39305614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355DFE-D4AA-884A-B0AF-909119139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73A78A9-BE45-8147-A585-E8BF901F4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D0ED910-A7F2-3C4F-942D-96EC31BD6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E1B81F6-89F5-094B-B16A-B100DF462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107FA00-28C6-BA47-9BCA-7602B6A46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2265212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868632-3FF1-114F-89D8-26506CF7F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0DDBC5B-0688-4245-914D-57EEBBBCA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C60DCD3-0138-984B-9BCF-6A74A20B5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E5E250C-F25C-8346-9557-E4D2F5B17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F5E146A-B9E0-2445-8288-0E18F947D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7474142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DE12DBE-F99A-AC47-AC4D-FD4FF2853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EF8C7D9-6025-3D48-B9EF-8468F88C9B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47C8ECB-A5E1-6846-B4E5-6725A1E594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C7030B0-F053-F540-A7D4-08C5A3FF4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6C28EE3-05A7-C746-A06A-68E7C5993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E2372DA-7F41-3B43-AAD3-06278222C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80060641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25CCD59-2B2F-6342-84CC-CDBFBF009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606C3F1-A786-B74F-87EE-CCD26105F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8B797CC-B575-114C-AC86-C67B45A16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622AE595-D8FB-8848-A7E1-4324FAE22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ED88016-0A86-5B47-B42F-A3FCBEAF99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D4D908D-C1E4-7D48-ABB0-FD884D88B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A51DCA8C-250C-4E4C-BB6E-24A1E1072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06A10730-617D-044F-9490-2AD97541D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1482352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6FC8B4-28B8-7041-BEB1-52BD3610C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BCB3380-E09E-3C43-9A92-E6EB0B3D3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794D097-9D59-9C4B-BD9A-0A0E9785B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39D3078-4BD3-854C-BA6D-351397A82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7616023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013292B-95FC-A54C-9E21-7CA64D61B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2F27E7C-3225-5F43-948B-76F37A8FA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876F8A8-3F94-954F-BD63-8F423C03E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5833371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531035-7105-3F46-B23E-61880CF37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F928537-2308-084C-85CA-D1F5990BF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63C8F6B-0EB7-EF42-B6FC-DED9B2D7D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2235400-3E45-6E4C-ACDA-7B27CF3EA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3763210-D575-3D45-AF1D-8B81BF972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F8D18E9-72B9-5447-BBC9-A7B58B6B4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3993630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0AAE6D-A7C6-864C-A0E6-98D870462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E23753E8-2A7F-BA43-B4B3-415AB2E9C4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0DEA259-B848-884C-9F89-9D13CB352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D763B9E-0D38-434D-A026-41C9B601C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0D3B9E2-8D80-7742-9888-1EC7509D9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2FB6CA9-994F-1245-9771-E23FDCA94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0489201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959689-1C00-884F-82C8-067B59B40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9029053-FF3C-FF48-AEE9-7FA009A38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BA20541-2512-D84F-AD2C-DA512A9E7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D2571CD-CC46-FA4F-897E-4535749F7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1C40A0A-EA86-7442-BE2F-385D1E22D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0137673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E655A014-6951-BE44-8A86-DAA0F07B7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FEBB579-260D-AB49-9B80-1A21613D32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26DDAA9-5C47-284E-9934-5E8E122B0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C907007-A1FA-1D4F-8D2E-DC92C17B3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B864ABA-6D4C-764D-8FDA-62C57A76D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0129931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129F7F3-9F03-6745-82D9-1C58E2ED72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xmlns="" id="{6EB73741-F5ED-864D-931A-858A844D73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xmlns="" id="{51CA3039-84A1-C946-A5F7-5CBD9EE424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xmlns="" id="{24264AD4-A097-5B4B-98C9-A1C1BF02FC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87704080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68BA11-1A32-C54B-9309-C6FC3DF54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BDBCA5A-D390-484A-A55D-EBAE9C16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30A0CE0-255B-9D48-9895-1DBBF8FB3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5200B41-8B4D-3641-A6E2-4EAEEDAC3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E60300A-5925-B849-9D04-6ACF51730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4184115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CE10CD-5FF6-D644-8F75-3C6E0F56D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FBA6A57-A120-F94D-8EA3-EA3D86415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B221499-307A-7643-ADE6-D298E00C8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A4F30D1-7714-374F-BC33-73B2A6200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70E1605-2E39-8141-97F7-8C650BA23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0997028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5BD3FCB-D002-214D-B46A-827BC002D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EE28CA7-1D76-6E4F-87EA-6BDB547CC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E48C7E8-E7DE-D34B-BA57-8BD8A6E94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5526544-4FE6-B44F-A69D-7A9232560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759E1D6-3EEE-B84B-8130-056754235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E8D2B60-A597-0942-BB72-AC0130F43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5268850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57D9156-7ED5-6F41-97D9-1B4750005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9787EFE-7F1F-5041-AE5E-693F96ABB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7D5EA84-F4FA-4E4D-852B-D0A78283B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A6763292-D36A-5A45-B6AF-B1ACAFB241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263B6209-A769-6240-9DC9-34223F0438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3E30CFE5-EF40-C04C-A4DD-83D339208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5FADC4E6-AD1E-4F43-BC6C-2FF050C6B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35D8BF98-4A8B-9D45-BC3D-148F82197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85942062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1C601A1-9589-2B40-9187-92DC38536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DAB0B05-C27C-7640-8ABE-679BF30C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D38BC55-A0B6-9049-AF6D-5C21E1940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27D89E6-B899-8A41-99BC-FE0CBF252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6301348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6B71877D-7DAA-A24D-9830-DA354FB5E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2EAF4227-3C44-644C-98C2-6091B0D94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4BBBC5F-BACA-B445-ADDB-B88691DE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5645631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3282E9-373E-1B42-B3E5-DED5A09BE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DD3C892-7991-DB4A-9FCB-6BEC76DF3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A5D14E8-9C9F-3C45-8ED5-01DA001F09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A90D87D-73D0-E24D-B666-C32B866F4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A8C982A-56C6-6C4B-9164-375366226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1055C7F-5748-A947-9451-D18E491C0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84682160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5B0E9F9-3F5C-5F4A-AB69-E3FDCC70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F9A7E557-0685-DE49-A6F7-FAF3135D1E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0058FE6-9CAD-854A-B539-D16466D05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775E515-7DAA-E648-BD3E-E4FEE608E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D80FF43-7001-1845-ABEA-41845D262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8757134-E5FE-A54C-9B90-EA4CBFA2B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9877060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2B99E8-36B5-0949-8513-689C34F55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68ABE95-8117-C043-8DB8-E267B453A9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EF5E56E-ECDE-A644-96DE-56082F595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3C3A234-4F81-A841-B3AF-33C41FFF5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F8A6CA2-D71B-C04F-8425-17588281E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8417208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65FB5A0C-AF3E-DD4A-9869-9D0CB4AA8F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E54FB47-CB7D-D541-AADE-0A562EAABE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6217B44-9C32-5040-9951-6284080FB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CD8170D-7439-1C4C-B41A-F911F36F6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B49A723-3CA4-C843-9091-FB60545BB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8266374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FE6D7474-90FC-2843-A6C6-7EC64A4399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2137A8-B7A9-2A46-AC45-4250534E91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xmlns="" id="{AC908751-67EF-B24F-9891-A9E6E40477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xmlns="" id="{B8097590-88B5-144D-AFF3-0A7EEBB731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57608535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8D2487-9088-DE47-98DB-6EAF68301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D174E3A-DC25-E64A-888C-94941F13A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CA14187-3913-374E-AEAF-80AA66EC0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A24E1D9-21DE-9141-9208-3C74FF808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F7364CB-CA1E-5244-A1D2-083E4C3E4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987492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58F076-D2AB-2943-AF9A-72D3F8071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53F7BF9-0A61-FF4F-8395-027DE0E18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D6C7C4D-D285-9A4B-8BB5-37386095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8D86127-0EA6-214A-B083-D35F0E932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0EE0EDF-60E5-5D4D-9636-817717902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2847048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7F3584-DBD9-744B-8E72-102A4829C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902AA3D-4A15-E34C-8AF7-1009883ABF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D136B84-F8B1-F84F-BF1F-6272CA329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DC513C1-A08B-2F44-8DA7-121F90D4F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4144FEE-4967-624A-9F10-4D7B7D288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5C9A911-0630-4544-BC4F-184673FFF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133550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76A0E63-D2DB-5D47-878D-DDAFFC9B0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CFEB6B-B92B-CC49-8718-2EE2EEC1F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675D6C4-21DD-DD4F-B969-021619D97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CC4CCE0-F6C0-C14E-942C-C53C6113FB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67CEE15A-649F-F841-861A-E96BFED1A2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30E5F3CB-0847-A149-B2D3-F83591B34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D48C7ECC-B6CB-2E4D-A93D-44C1F6F4D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325921A9-D953-1441-89E0-852D67E23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18723120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B55A48-96BB-C249-92DA-6D671E6A1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8E95BC2-7F4F-A74F-8B65-D090BFF71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0B41E8C-783A-3842-BA95-91CFE50A5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0657E49-737A-774F-BEED-4D74F3507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7368568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E1E19AB-93A9-CB4F-A97D-C6D0E4C5B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49093FA0-71C8-3749-A2F2-ECC7B4B2C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AFEE156-6187-6141-BD3E-DA6E1C3A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4114664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0281BC4-F8C9-5947-940B-1390E37FB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A9B7F54-094F-B143-83C5-95C52D9AC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A1066C6-C25C-984E-A0DD-D5415E514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760D5CD-069C-1948-8349-80619053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E5A0036-3325-A94F-85AA-183519D77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32C2FD6-A57A-A249-8976-340497AEC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7006947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A6E09B5-A5B5-A14A-9542-024E78DDA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07006178-F035-6845-97F1-5BE5570EB9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249A715-7EC3-FB42-9E17-B990CE9D9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8479DB0-B002-9645-AC57-C3D147390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6D3AAF8-51B9-5C45-B2CD-732A4D781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7662CF3-0416-BF4C-AA63-4B8A7263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4971609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2CADB3-2C61-564D-997C-1DA70B29E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6FF8161-6881-D741-89D9-C165F33EE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DAD1751-1B65-1F49-A8C2-325477A84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4DFCD24-4D35-674F-8BF1-400416E76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827FF32-CD5B-FF41-9C75-89644CC92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1861854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ECE3B775-5606-8445-B5C6-D71237AC31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E9F18FC-BDED-8C40-9D95-42AC248059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58FA7EB-3179-0548-99F6-45FFD5239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881DB21-8761-1A49-86D0-64300BFB6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4A24DBE-D2F1-5E4D-A1D3-D403F04B2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0457098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9622F-DC27-6E4D-80EB-5A6117330FAE}" type="datetime1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2893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A6B0-E07D-7A4E-9C17-34F6E529FF07}" type="datetime1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0642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43CC3-6E6E-6643-828B-49F62B8D27E7}" type="datetime1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347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AE71E-C708-8048-B873-9764252AFD88}" type="datetime1">
              <a:rPr lang="en-US" smtClean="0"/>
              <a:t>3/6/2023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1488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2E0B2-8F0E-E541-A881-26952164E626}" type="datetime1">
              <a:rPr lang="en-US" smtClean="0"/>
              <a:t>3/6/2023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11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28D78-157E-6441-A2E9-690CAD17061D}" type="datetime1">
              <a:rPr lang="en-US" smtClean="0"/>
              <a:t>3/6/2023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5945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DEEC-6BE6-484F-BFF5-6191A744CE89}" type="datetime1">
              <a:rPr lang="en-US" smtClean="0"/>
              <a:t>3/6/2023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4191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79F4-DB7F-AD41-A0BB-29D2BAB33E6B}" type="datetime1">
              <a:rPr lang="en-US" smtClean="0"/>
              <a:t>3/6/2023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3237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6C5C7-3D40-D147-8474-4CAF78E28128}" type="datetime1">
              <a:rPr lang="en-US" smtClean="0"/>
              <a:t>3/6/2023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0027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DCC7-F5A3-F54A-8412-78F07FF2601F}" type="datetime1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2163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FF6D2-335C-6748-BEAD-B38E52C128C7}" type="datetime1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595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EC29E6-4FCB-2845-BF22-D83D87980FEA}" type="datetime1">
              <a:rPr lang="en-US" smtClean="0"/>
              <a:t>3/6/2023</a:t>
            </a:fld>
            <a:endParaRPr lang="en-US" dirty="0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2EAAFE79-0F59-BC47-A038-EDA78F95D4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51A71D3D-F011-47C0-9290-685F7D9F641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5100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F6CC-FCD5-4344-80DA-742BEEE0FBC1}" type="datetimeFigureOut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977F5-FB7A-43E8-8A31-913C0F1B1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327576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F6CC-FCD5-4344-80DA-742BEEE0FBC1}" type="datetimeFigureOut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977F5-FB7A-43E8-8A31-913C0F1B1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16519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F6CC-FCD5-4344-80DA-742BEEE0FBC1}" type="datetimeFigureOut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977F5-FB7A-43E8-8A31-913C0F1B1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953075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F6CC-FCD5-4344-80DA-742BEEE0FBC1}" type="datetimeFigureOut">
              <a:rPr lang="en-US" smtClean="0"/>
              <a:t>3/6/2023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977F5-FB7A-43E8-8A31-913C0F1B1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13764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F6CC-FCD5-4344-80DA-742BEEE0FBC1}" type="datetimeFigureOut">
              <a:rPr lang="en-US" smtClean="0"/>
              <a:t>3/6/2023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977F5-FB7A-43E8-8A31-913C0F1B1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411968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F6CC-FCD5-4344-80DA-742BEEE0FBC1}" type="datetimeFigureOut">
              <a:rPr lang="en-US" smtClean="0"/>
              <a:t>3/6/2023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977F5-FB7A-43E8-8A31-913C0F1B1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381984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F6CC-FCD5-4344-80DA-742BEEE0FBC1}" type="datetimeFigureOut">
              <a:rPr lang="en-US" smtClean="0"/>
              <a:t>3/6/2023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977F5-FB7A-43E8-8A31-913C0F1B1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183796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F6CC-FCD5-4344-80DA-742BEEE0FBC1}" type="datetimeFigureOut">
              <a:rPr lang="en-US" smtClean="0"/>
              <a:t>3/6/2023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977F5-FB7A-43E8-8A31-913C0F1B1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077764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F6CC-FCD5-4344-80DA-742BEEE0FBC1}" type="datetimeFigureOut">
              <a:rPr lang="en-US" smtClean="0"/>
              <a:t>3/6/2023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977F5-FB7A-43E8-8A31-913C0F1B1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61026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F6CC-FCD5-4344-80DA-742BEEE0FBC1}" type="datetimeFigureOut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977F5-FB7A-43E8-8A31-913C0F1B1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550979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F6CC-FCD5-4344-80DA-742BEEE0FBC1}" type="datetimeFigureOut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977F5-FB7A-43E8-8A31-913C0F1B1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8501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image" Target="../media/image9.png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image" Target="../media/image10.png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image" Target="../media/image11.png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.xml"/><Relationship Id="rId13" Type="http://schemas.openxmlformats.org/officeDocument/2006/relationships/image" Target="../media/image12.png"/><Relationship Id="rId3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3.xml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82.xml"/><Relationship Id="rId5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81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0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9.xml"/><Relationship Id="rId12" Type="http://schemas.openxmlformats.org/officeDocument/2006/relationships/slideLayout" Target="../slideLayouts/slideLayout94.xml"/><Relationship Id="rId2" Type="http://schemas.openxmlformats.org/officeDocument/2006/relationships/slideLayout" Target="../slideLayouts/slideLayout84.xml"/><Relationship Id="rId1" Type="http://schemas.openxmlformats.org/officeDocument/2006/relationships/slideLayout" Target="../slideLayouts/slideLayout83.xml"/><Relationship Id="rId6" Type="http://schemas.openxmlformats.org/officeDocument/2006/relationships/slideLayout" Target="../slideLayouts/slideLayout88.xml"/><Relationship Id="rId11" Type="http://schemas.openxmlformats.org/officeDocument/2006/relationships/slideLayout" Target="../slideLayouts/slideLayout93.xml"/><Relationship Id="rId5" Type="http://schemas.openxmlformats.org/officeDocument/2006/relationships/slideLayout" Target="../slideLayouts/slideLayout8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92.xml"/><Relationship Id="rId4" Type="http://schemas.openxmlformats.org/officeDocument/2006/relationships/slideLayout" Target="../slideLayouts/slideLayout86.xml"/><Relationship Id="rId9" Type="http://schemas.openxmlformats.org/officeDocument/2006/relationships/slideLayout" Target="../slideLayouts/slideLayout91.xml"/><Relationship Id="rId14" Type="http://schemas.openxmlformats.org/officeDocument/2006/relationships/image" Target="../media/image1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2.xml"/><Relationship Id="rId3" Type="http://schemas.openxmlformats.org/officeDocument/2006/relationships/slideLayout" Target="../slideLayouts/slideLayout97.xml"/><Relationship Id="rId7" Type="http://schemas.openxmlformats.org/officeDocument/2006/relationships/slideLayout" Target="../slideLayouts/slideLayout101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96.xml"/><Relationship Id="rId1" Type="http://schemas.openxmlformats.org/officeDocument/2006/relationships/slideLayout" Target="../slideLayouts/slideLayout95.xml"/><Relationship Id="rId6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98.xml"/><Relationship Id="rId9" Type="http://schemas.openxmlformats.org/officeDocument/2006/relationships/slideLayout" Target="../slideLayouts/slideLayout10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00"/>
          <a:stretch/>
        </p:blipFill>
        <p:spPr>
          <a:xfrm>
            <a:off x="0" y="6400801"/>
            <a:ext cx="12192000" cy="45720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2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C29E6-4FCB-2845-BF22-D83D87980FEA}" type="datetime1">
              <a:rPr lang="en-US" smtClean="0"/>
              <a:t>3/6/2023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AFE79-0F59-BC47-A038-EDA78F95D4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A71D3D-F011-47C0-9290-685F7D9F641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7" b="23330"/>
          <a:stretch/>
        </p:blipFill>
        <p:spPr>
          <a:xfrm>
            <a:off x="10160000" y="0"/>
            <a:ext cx="2032000" cy="5080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0" y="6553200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 smtClean="0">
                <a:solidFill>
                  <a:srgbClr val="E87A23"/>
                </a:solidFill>
              </a:rPr>
              <a:t>SLIIT </a:t>
            </a:r>
            <a:r>
              <a:rPr lang="en-US" sz="1600" b="1" baseline="0" dirty="0" smtClean="0">
                <a:solidFill>
                  <a:srgbClr val="E87A23"/>
                </a:solidFill>
              </a:rPr>
              <a:t> - Faculty of Computing</a:t>
            </a:r>
            <a:endParaRPr lang="en-US" sz="1600" b="1" dirty="0">
              <a:solidFill>
                <a:srgbClr val="E87A23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00"/>
          <a:stretch/>
        </p:blipFill>
        <p:spPr>
          <a:xfrm rot="10800000">
            <a:off x="0" y="-2"/>
            <a:ext cx="10160000" cy="4572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0" y="-76200"/>
            <a:ext cx="589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Data</a:t>
            </a:r>
            <a:r>
              <a:rPr lang="en-US" sz="1600" b="1" baseline="0" dirty="0" smtClean="0">
                <a:solidFill>
                  <a:schemeClr val="bg1"/>
                </a:solidFill>
              </a:rPr>
              <a:t> Structures and Algorithms</a:t>
            </a:r>
            <a:endParaRPr lang="en-US" sz="1600" b="1" dirty="0">
              <a:solidFill>
                <a:schemeClr val="bg1"/>
              </a:solidFill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838200" y="1447800"/>
            <a:ext cx="10515600" cy="0"/>
          </a:xfrm>
          <a:prstGeom prst="line">
            <a:avLst/>
          </a:prstGeom>
          <a:ln w="19050">
            <a:solidFill>
              <a:srgbClr val="242D66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377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748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333" r="73809"/>
          <a:stretch/>
        </p:blipFill>
        <p:spPr>
          <a:xfrm>
            <a:off x="0" y="5410200"/>
            <a:ext cx="3266831" cy="14478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C29E6-4FCB-2845-BF22-D83D87980FEA}" type="datetime1">
              <a:rPr lang="en-US" smtClean="0"/>
              <a:t>3/6/2023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10" b="76667"/>
          <a:stretch/>
        </p:blipFill>
        <p:spPr>
          <a:xfrm>
            <a:off x="8920122" y="0"/>
            <a:ext cx="3271879" cy="15615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0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tx1"/>
                </a:solidFill>
              </a:rPr>
              <a:t>Data</a:t>
            </a:r>
            <a:r>
              <a:rPr lang="en-US" sz="1600" b="1" baseline="0" dirty="0" smtClean="0">
                <a:solidFill>
                  <a:schemeClr val="tx1"/>
                </a:solidFill>
              </a:rPr>
              <a:t> Structures and Algorithms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19446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 smtClean="0">
                <a:solidFill>
                  <a:schemeClr val="tx1"/>
                </a:solidFill>
              </a:rPr>
              <a:t>SLIIT </a:t>
            </a:r>
            <a:r>
              <a:rPr lang="en-US" sz="1600" b="1" baseline="0" dirty="0" smtClean="0">
                <a:solidFill>
                  <a:schemeClr val="tx1"/>
                </a:solidFill>
              </a:rPr>
              <a:t> - Faculty of Computing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331200" y="76200"/>
            <a:ext cx="3657600" cy="914400"/>
          </a:xfrm>
          <a:prstGeom prst="rect">
            <a:avLst/>
          </a:prstGeom>
          <a:solidFill>
            <a:srgbClr val="F2F2F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7" b="23330"/>
          <a:stretch/>
        </p:blipFill>
        <p:spPr>
          <a:xfrm>
            <a:off x="8331201" y="76200"/>
            <a:ext cx="3657143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572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747" r:id="rId2"/>
    <p:sldLayoutId id="2147483749" r:id="rId3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00"/>
          <a:stretch/>
        </p:blipFill>
        <p:spPr>
          <a:xfrm>
            <a:off x="0" y="6400801"/>
            <a:ext cx="12192000" cy="45720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2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C29E6-4FCB-2845-BF22-D83D87980FEA}" type="datetime1">
              <a:rPr lang="en-US" smtClean="0"/>
              <a:t>3/6/2023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AFE79-0F59-BC47-A038-EDA78F95D4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A71D3D-F011-47C0-9290-685F7D9F641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7" b="23330"/>
          <a:stretch/>
        </p:blipFill>
        <p:spPr>
          <a:xfrm>
            <a:off x="10160000" y="0"/>
            <a:ext cx="2032000" cy="5080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0" y="6553200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 smtClean="0">
                <a:solidFill>
                  <a:srgbClr val="E87A23"/>
                </a:solidFill>
              </a:rPr>
              <a:t>SLIIT </a:t>
            </a:r>
            <a:r>
              <a:rPr lang="en-US" sz="1600" b="1" baseline="0" dirty="0" smtClean="0">
                <a:solidFill>
                  <a:srgbClr val="E87A23"/>
                </a:solidFill>
              </a:rPr>
              <a:t> - Faculty of Computing</a:t>
            </a:r>
            <a:endParaRPr lang="en-US" sz="1600" b="1" dirty="0">
              <a:solidFill>
                <a:srgbClr val="E87A23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00"/>
          <a:stretch/>
        </p:blipFill>
        <p:spPr>
          <a:xfrm rot="10800000">
            <a:off x="0" y="-2"/>
            <a:ext cx="10160000" cy="457201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0" y="-76200"/>
            <a:ext cx="589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Data</a:t>
            </a:r>
            <a:r>
              <a:rPr lang="en-US" sz="1600" b="1" baseline="0" dirty="0" smtClean="0">
                <a:solidFill>
                  <a:schemeClr val="bg1"/>
                </a:solidFill>
              </a:rPr>
              <a:t> Structures and Algorithms</a:t>
            </a:r>
            <a:endParaRPr lang="en-US" sz="1600" b="1" dirty="0">
              <a:solidFill>
                <a:schemeClr val="bg1"/>
              </a:solidFill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838200" y="1447800"/>
            <a:ext cx="10515600" cy="0"/>
          </a:xfrm>
          <a:prstGeom prst="line">
            <a:avLst/>
          </a:prstGeom>
          <a:ln w="19050">
            <a:solidFill>
              <a:srgbClr val="242D66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5496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xmlns="" id="{B74E64AB-3617-6444-977E-451665F3AA0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C29E6-4FCB-2845-BF22-D83D87980FEA}" type="datetime1">
              <a:rPr lang="en-US" smtClean="0"/>
              <a:t>3/6/2023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AFE79-0F59-BC47-A038-EDA78F95D4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A71D3D-F011-47C0-9290-685F7D9F641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519207C1-EF3A-474B-9260-57BDCDAABA5F}"/>
              </a:ext>
            </a:extLst>
          </p:cNvPr>
          <p:cNvSpPr/>
          <p:nvPr/>
        </p:nvSpPr>
        <p:spPr>
          <a:xfrm>
            <a:off x="3438283" y="648970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-76200"/>
            <a:ext cx="589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Data</a:t>
            </a:r>
            <a:r>
              <a:rPr lang="en-US" sz="1600" b="1" baseline="0" dirty="0" smtClean="0">
                <a:solidFill>
                  <a:schemeClr val="bg1"/>
                </a:solidFill>
              </a:rPr>
              <a:t> Structures and Algorithms</a:t>
            </a:r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7632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xmlns="" id="{6E16D633-DACB-C846-BDA7-A364E505FA4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6595381-8FBB-074E-85C0-EC0EE065C9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CD59B-C6C2-C84A-A9B5-AB286FEC8FEA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AD468D55-7135-BC4F-B4E1-521E101CC930}"/>
              </a:ext>
            </a:extLst>
          </p:cNvPr>
          <p:cNvSpPr/>
          <p:nvPr/>
        </p:nvSpPr>
        <p:spPr>
          <a:xfrm>
            <a:off x="3438283" y="648970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xmlns="" id="{EEDC7D24-32C7-4B48-9F10-434887CD4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A26083DB-7BD6-3E47-B765-25CEE4F6A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72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xmlns="" id="{5DBD57C8-B4C6-3C42-B6F4-C955BD6C8AA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E6AAD40-79E3-9A4C-A0B7-F3988464DA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5BACE-BCC1-184F-A700-DFA15150D1CF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2E49F6B-E24B-774B-9985-5552F8469D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D308542-B565-C84C-A36F-281CEF297D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286BD2B-3DFA-E24B-97EC-B151268D4BE7}"/>
              </a:ext>
            </a:extLst>
          </p:cNvPr>
          <p:cNvSpPr/>
          <p:nvPr/>
        </p:nvSpPr>
        <p:spPr>
          <a:xfrm>
            <a:off x="3438283" y="648970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xmlns="" id="{1AFE1AAF-B956-2C44-8FEC-72B4E552A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xmlns="" id="{2253E3D6-10BE-B648-833C-3BF1365C4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385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xmlns="" id="{086F86B0-CCE5-C247-8C3E-609758EDD34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9F3B6E8-2F8C-BD44-8621-09962AFC7E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0E6BC-1CF3-D548-872D-25FC8E072151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9BA8008-CB95-3B4A-A2A6-E3FFA62324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5499DA9-A326-0744-B496-956389595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B37D14D5-B266-324D-813B-7D2146A87BE8}"/>
              </a:ext>
            </a:extLst>
          </p:cNvPr>
          <p:cNvSpPr/>
          <p:nvPr/>
        </p:nvSpPr>
        <p:spPr>
          <a:xfrm>
            <a:off x="3438283" y="6489700"/>
            <a:ext cx="875371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xmlns="" id="{6BB38998-2073-AE42-9998-1D746B331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7DE789EF-2F79-8949-A254-5D7CCF0BE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449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xmlns="" id="{FDF5791D-2785-FF4E-BB9F-BA95F7A785C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422662D-6CBD-3E40-8908-73A2E1800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F6062-965F-0D4F-9928-5BD13379ABC1}" type="datetimeFigureOut">
              <a:rPr lang="x-none" smtClean="0"/>
              <a:t>3/6/2023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39A0E31-479D-AC42-8143-0F5CF079B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00B0FD9-7401-9440-955C-2CC29D60A1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63CBA682-B826-3E41-9370-D9CBAB4FDEDF}"/>
              </a:ext>
            </a:extLst>
          </p:cNvPr>
          <p:cNvSpPr/>
          <p:nvPr/>
        </p:nvSpPr>
        <p:spPr>
          <a:xfrm>
            <a:off x="3438283" y="648970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xmlns="" id="{32C0FA02-C8CF-7F45-AE8B-B2EE204AA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D46E731A-CE3E-B047-95B9-5CD6C76C5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196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00"/>
          <a:stretch/>
        </p:blipFill>
        <p:spPr>
          <a:xfrm>
            <a:off x="0" y="6400801"/>
            <a:ext cx="12192000" cy="45720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2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C29E6-4FCB-2845-BF22-D83D87980FEA}" type="datetime1">
              <a:rPr lang="en-US" smtClean="0"/>
              <a:t>3/6/2023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AFE79-0F59-BC47-A038-EDA78F95D4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A71D3D-F011-47C0-9290-685F7D9F641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7" b="23330"/>
          <a:stretch/>
        </p:blipFill>
        <p:spPr>
          <a:xfrm>
            <a:off x="10160000" y="0"/>
            <a:ext cx="2032000" cy="5080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0" y="6553200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 smtClean="0">
                <a:solidFill>
                  <a:srgbClr val="E87A23"/>
                </a:solidFill>
              </a:rPr>
              <a:t>SLIIT </a:t>
            </a:r>
            <a:r>
              <a:rPr lang="en-US" sz="1600" b="1" baseline="0" dirty="0" smtClean="0">
                <a:solidFill>
                  <a:srgbClr val="E87A23"/>
                </a:solidFill>
              </a:rPr>
              <a:t> - Faculty of Computing</a:t>
            </a:r>
            <a:endParaRPr lang="en-US" sz="1600" b="1" dirty="0">
              <a:solidFill>
                <a:srgbClr val="E87A23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00"/>
          <a:stretch/>
        </p:blipFill>
        <p:spPr>
          <a:xfrm rot="10800000">
            <a:off x="0" y="-2"/>
            <a:ext cx="10160000" cy="4572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0" y="-76200"/>
            <a:ext cx="589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Data Structures and Algorithms</a:t>
            </a:r>
            <a:endParaRPr lang="en-US" sz="1600" b="1" dirty="0">
              <a:solidFill>
                <a:schemeClr val="bg1"/>
              </a:solidFill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838200" y="1447800"/>
            <a:ext cx="10515600" cy="0"/>
          </a:xfrm>
          <a:prstGeom prst="line">
            <a:avLst/>
          </a:prstGeom>
          <a:ln w="19050">
            <a:solidFill>
              <a:srgbClr val="242D66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8048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99F6CC-FCD5-4344-80DA-742BEEE0FBC1}" type="datetimeFigureOut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8977F5-FB7A-43E8-8A31-913C0F1B1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74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84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84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84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84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6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8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7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8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20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8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3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987856" y="1885434"/>
            <a:ext cx="821628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latin typeface="Garamond" panose="02020404030301010803" pitchFamily="18" charset="0"/>
              </a:rPr>
              <a:t>IT2070 – Data Structures and Algorithms</a:t>
            </a: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2840837" y="2831350"/>
            <a:ext cx="7195151" cy="19917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smtClean="0">
                <a:latin typeface="Garamond" panose="02020404030301010803" pitchFamily="18" charset="0"/>
              </a:rPr>
              <a:t>Lecture </a:t>
            </a:r>
            <a:r>
              <a:rPr lang="en-US" sz="3200" b="1" smtClean="0">
                <a:latin typeface="Garamond" panose="02020404030301010803" pitchFamily="18" charset="0"/>
              </a:rPr>
              <a:t>06</a:t>
            </a:r>
            <a:endParaRPr lang="en-US" sz="3200" b="1" dirty="0" smtClean="0">
              <a:latin typeface="Garamond" panose="02020404030301010803" pitchFamily="18" charset="0"/>
            </a:endParaRPr>
          </a:p>
          <a:p>
            <a:pPr marL="0" indent="0" algn="ctr">
              <a:buNone/>
            </a:pPr>
            <a:r>
              <a:rPr lang="en-US" sz="3200" b="1" dirty="0" smtClean="0">
                <a:latin typeface="Garamond" panose="02020404030301010803" pitchFamily="18" charset="0"/>
              </a:rPr>
              <a:t>Introduction to Recursion</a:t>
            </a:r>
          </a:p>
          <a:p>
            <a:pPr algn="ctr"/>
            <a:endParaRPr lang="en-US" sz="32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902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7000" y="601249"/>
            <a:ext cx="6858000" cy="801666"/>
          </a:xfrm>
        </p:spPr>
        <p:txBody>
          <a:bodyPr>
            <a:normAutofit/>
          </a:bodyPr>
          <a:lstStyle/>
          <a:p>
            <a:r>
              <a:rPr lang="en-US" sz="3200" dirty="0"/>
              <a:t>Recursion –Example 1</a:t>
            </a:r>
            <a:endParaRPr lang="en-US" sz="32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0" y="1653436"/>
            <a:ext cx="6858000" cy="3604364"/>
          </a:xfrm>
        </p:spPr>
        <p:txBody>
          <a:bodyPr>
            <a:normAutofit/>
          </a:bodyPr>
          <a:lstStyle/>
          <a:p>
            <a:pPr algn="l"/>
            <a:r>
              <a:rPr lang="en-US" b="1" u="sng" dirty="0" smtClean="0">
                <a:latin typeface="Arial Unicode MS" panose="020B0604020202020204" pitchFamily="34" charset="-128"/>
              </a:rPr>
              <a:t>Factorial</a:t>
            </a:r>
          </a:p>
          <a:p>
            <a:pPr algn="l"/>
            <a:endParaRPr lang="en-US" b="1" u="sng" dirty="0">
              <a:latin typeface="Arial Unicode MS" panose="020B0604020202020204" pitchFamily="34" charset="-128"/>
            </a:endParaRPr>
          </a:p>
          <a:p>
            <a:r>
              <a:rPr lang="en-US" i="1" dirty="0" smtClean="0">
                <a:latin typeface="Arial Unicode MS" panose="020B0604020202020204" pitchFamily="34" charset="-128"/>
              </a:rPr>
              <a:t>n </a:t>
            </a:r>
            <a:r>
              <a:rPr lang="en-US" dirty="0" smtClean="0">
                <a:latin typeface="Arial Unicode MS" panose="020B0604020202020204" pitchFamily="34" charset="-128"/>
              </a:rPr>
              <a:t>! </a:t>
            </a:r>
            <a:r>
              <a:rPr lang="en-US" dirty="0">
                <a:latin typeface="Arial Unicode MS" panose="020B0604020202020204" pitchFamily="34" charset="-128"/>
              </a:rPr>
              <a:t>= </a:t>
            </a:r>
            <a:r>
              <a:rPr lang="en-US" i="1" dirty="0" smtClean="0">
                <a:latin typeface="Arial Unicode MS" panose="020B0604020202020204" pitchFamily="34" charset="-128"/>
              </a:rPr>
              <a:t>n </a:t>
            </a:r>
            <a:r>
              <a:rPr lang="en-US" dirty="0" smtClean="0">
                <a:latin typeface="Arial Unicode MS" panose="020B0604020202020204" pitchFamily="34" charset="-128"/>
              </a:rPr>
              <a:t>* (</a:t>
            </a:r>
            <a:r>
              <a:rPr lang="en-US" i="1" dirty="0" smtClean="0">
                <a:latin typeface="Arial Unicode MS" panose="020B0604020202020204" pitchFamily="34" charset="-128"/>
              </a:rPr>
              <a:t>n </a:t>
            </a:r>
            <a:r>
              <a:rPr lang="en-US" dirty="0" smtClean="0">
                <a:latin typeface="Arial Unicode MS" panose="020B0604020202020204" pitchFamily="34" charset="-128"/>
              </a:rPr>
              <a:t>-</a:t>
            </a:r>
            <a:r>
              <a:rPr lang="en-US" dirty="0">
                <a:latin typeface="Arial Unicode MS" panose="020B0604020202020204" pitchFamily="34" charset="-128"/>
              </a:rPr>
              <a:t>1</a:t>
            </a:r>
            <a:r>
              <a:rPr lang="en-US" dirty="0" smtClean="0">
                <a:latin typeface="Arial Unicode MS" panose="020B0604020202020204" pitchFamily="34" charset="-128"/>
              </a:rPr>
              <a:t>) * (</a:t>
            </a:r>
            <a:r>
              <a:rPr lang="en-US" i="1" dirty="0" smtClean="0">
                <a:latin typeface="Arial Unicode MS" panose="020B0604020202020204" pitchFamily="34" charset="-128"/>
              </a:rPr>
              <a:t>n </a:t>
            </a:r>
            <a:r>
              <a:rPr lang="en-US" dirty="0" smtClean="0">
                <a:latin typeface="Arial Unicode MS" panose="020B0604020202020204" pitchFamily="34" charset="-128"/>
              </a:rPr>
              <a:t>-</a:t>
            </a:r>
            <a:r>
              <a:rPr lang="en-US" dirty="0">
                <a:latin typeface="Arial Unicode MS" panose="020B0604020202020204" pitchFamily="34" charset="-128"/>
              </a:rPr>
              <a:t>2</a:t>
            </a:r>
            <a:r>
              <a:rPr lang="en-US" dirty="0" smtClean="0">
                <a:latin typeface="Arial Unicode MS" panose="020B0604020202020204" pitchFamily="34" charset="-128"/>
              </a:rPr>
              <a:t>) * ... * 2 * 1</a:t>
            </a:r>
            <a:r>
              <a:rPr lang="en-US" dirty="0">
                <a:latin typeface="Arial Unicode MS" panose="020B0604020202020204" pitchFamily="34" charset="-128"/>
              </a:rPr>
              <a:t>, and that 0! = 1. </a:t>
            </a:r>
            <a:endParaRPr lang="en-US" dirty="0" smtClean="0">
              <a:latin typeface="Arial Unicode MS" panose="020B0604020202020204" pitchFamily="34" charset="-128"/>
            </a:endParaRPr>
          </a:p>
          <a:p>
            <a:endParaRPr lang="en-US" dirty="0">
              <a:latin typeface="Arial Unicode MS" panose="020B0604020202020204" pitchFamily="34" charset="-128"/>
            </a:endParaRPr>
          </a:p>
          <a:p>
            <a:pPr algn="l"/>
            <a:r>
              <a:rPr lang="en-US" dirty="0" smtClean="0">
                <a:latin typeface="Arial Unicode MS" panose="020B0604020202020204" pitchFamily="34" charset="-128"/>
              </a:rPr>
              <a:t>A </a:t>
            </a:r>
            <a:r>
              <a:rPr lang="en-US" dirty="0">
                <a:latin typeface="Arial Unicode MS" panose="020B0604020202020204" pitchFamily="34" charset="-128"/>
              </a:rPr>
              <a:t>recursive definition is</a:t>
            </a:r>
          </a:p>
          <a:p>
            <a:r>
              <a:rPr lang="en-US" sz="2800" dirty="0"/>
              <a:t>  </a:t>
            </a:r>
          </a:p>
          <a:p>
            <a:endParaRPr lang="en-US" dirty="0">
              <a:latin typeface="Arial Unicode MS" panose="020B0604020202020204" pitchFamily="34" charset="-128"/>
            </a:endParaRPr>
          </a:p>
          <a:p>
            <a:pPr algn="l"/>
            <a:endParaRPr lang="en-US" b="1" u="sng" dirty="0">
              <a:latin typeface="Arial Unicode MS" panose="020B0604020202020204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11DF7-A42A-4107-A9E6-6C3947535C56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ext Box 12"/>
          <p:cNvSpPr txBox="1">
            <a:spLocks noChangeArrowheads="1"/>
          </p:cNvSpPr>
          <p:nvPr/>
        </p:nvSpPr>
        <p:spPr bwMode="auto">
          <a:xfrm>
            <a:off x="2667001" y="4047332"/>
            <a:ext cx="5508321" cy="121046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sz="3200" dirty="0">
                <a:latin typeface="Arial Unicode MS" panose="020B0604020202020204" pitchFamily="34" charset="-128"/>
              </a:rPr>
              <a:t>(</a:t>
            </a:r>
            <a:r>
              <a:rPr lang="en-US" sz="3200" i="1" dirty="0">
                <a:latin typeface="Arial Unicode MS" panose="020B0604020202020204" pitchFamily="34" charset="-128"/>
              </a:rPr>
              <a:t>n</a:t>
            </a:r>
            <a:r>
              <a:rPr lang="en-US" sz="3200" dirty="0">
                <a:latin typeface="Arial Unicode MS" panose="020B0604020202020204" pitchFamily="34" charset="-128"/>
              </a:rPr>
              <a:t>)! =  {</a:t>
            </a:r>
            <a:r>
              <a:rPr lang="en-US" sz="3200" i="1" dirty="0">
                <a:latin typeface="Arial Unicode MS" panose="020B0604020202020204" pitchFamily="34" charset="-128"/>
              </a:rPr>
              <a:t>n</a:t>
            </a:r>
            <a:r>
              <a:rPr lang="en-US" sz="3200" dirty="0">
                <a:latin typeface="Arial Unicode MS" panose="020B0604020202020204" pitchFamily="34" charset="-128"/>
              </a:rPr>
              <a:t> * (</a:t>
            </a:r>
            <a:r>
              <a:rPr lang="en-US" sz="3200" i="1" dirty="0">
                <a:latin typeface="Arial Unicode MS" panose="020B0604020202020204" pitchFamily="34" charset="-128"/>
              </a:rPr>
              <a:t>n </a:t>
            </a:r>
            <a:r>
              <a:rPr lang="en-US" sz="3200" dirty="0">
                <a:latin typeface="Arial Unicode MS" panose="020B0604020202020204" pitchFamily="34" charset="-128"/>
              </a:rPr>
              <a:t>-1)!    if </a:t>
            </a:r>
            <a:r>
              <a:rPr lang="en-US" sz="3200" i="1" dirty="0">
                <a:latin typeface="Arial Unicode MS" panose="020B0604020202020204" pitchFamily="34" charset="-128"/>
              </a:rPr>
              <a:t>n </a:t>
            </a:r>
            <a:r>
              <a:rPr lang="en-US" sz="3200" dirty="0">
                <a:latin typeface="Arial Unicode MS" panose="020B0604020202020204" pitchFamily="34" charset="-128"/>
              </a:rPr>
              <a:t>&gt; 0} </a:t>
            </a:r>
          </a:p>
          <a:p>
            <a:pPr eaLnBrk="1" hangingPunct="1">
              <a:spcBef>
                <a:spcPct val="2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sz="3200" dirty="0">
                <a:latin typeface="Arial Unicode MS" panose="020B0604020202020204" pitchFamily="34" charset="-128"/>
              </a:rPr>
              <a:t>           {1                 if </a:t>
            </a:r>
            <a:r>
              <a:rPr lang="en-US" sz="3200" i="1" dirty="0">
                <a:latin typeface="Arial Unicode MS" panose="020B0604020202020204" pitchFamily="34" charset="-128"/>
              </a:rPr>
              <a:t>n </a:t>
            </a:r>
            <a:r>
              <a:rPr lang="en-US" sz="3200" dirty="0">
                <a:latin typeface="Arial Unicode MS" panose="020B0604020202020204" pitchFamily="34" charset="-128"/>
              </a:rPr>
              <a:t>= 0}</a:t>
            </a:r>
            <a:endParaRPr lang="en-US" sz="3600" b="1" i="1" dirty="0">
              <a:solidFill>
                <a:srgbClr val="49661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5382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7000" y="601249"/>
            <a:ext cx="6858000" cy="801666"/>
          </a:xfrm>
        </p:spPr>
        <p:txBody>
          <a:bodyPr>
            <a:normAutofit/>
          </a:bodyPr>
          <a:lstStyle/>
          <a:p>
            <a:r>
              <a:rPr lang="en-US" sz="3200" dirty="0"/>
              <a:t>Factorial -A graphical view</a:t>
            </a:r>
            <a:endParaRPr lang="en-US" sz="32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0" y="1653436"/>
            <a:ext cx="6858000" cy="360436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dirty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11DF7-A42A-4107-A9E6-6C3947535C56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4360102" y="1653436"/>
            <a:ext cx="990600" cy="5286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/>
              <a:t>  n!</a:t>
            </a:r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 flipH="1">
            <a:off x="3674302" y="2186836"/>
            <a:ext cx="990600" cy="381000"/>
          </a:xfrm>
          <a:prstGeom prst="line">
            <a:avLst/>
          </a:prstGeom>
          <a:noFill/>
          <a:ln w="3175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4817302" y="2186836"/>
            <a:ext cx="1219200" cy="304800"/>
          </a:xfrm>
          <a:prstGeom prst="line">
            <a:avLst/>
          </a:prstGeom>
          <a:noFill/>
          <a:ln w="3175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2836102" y="2567837"/>
            <a:ext cx="167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/>
              <a:t>n            *</a:t>
            </a: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5426902" y="2567836"/>
            <a:ext cx="1600200" cy="5286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/>
              <a:t>    (n-1)!</a:t>
            </a:r>
          </a:p>
        </p:txBody>
      </p:sp>
      <p:sp>
        <p:nvSpPr>
          <p:cNvPr id="10" name="Line 11"/>
          <p:cNvSpPr>
            <a:spLocks noChangeShapeType="1"/>
          </p:cNvSpPr>
          <p:nvPr/>
        </p:nvSpPr>
        <p:spPr bwMode="auto">
          <a:xfrm flipH="1">
            <a:off x="4817302" y="3101236"/>
            <a:ext cx="1295400" cy="457200"/>
          </a:xfrm>
          <a:prstGeom prst="line">
            <a:avLst/>
          </a:prstGeom>
          <a:noFill/>
          <a:ln w="3175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" name="Line 12"/>
          <p:cNvSpPr>
            <a:spLocks noChangeShapeType="1"/>
          </p:cNvSpPr>
          <p:nvPr/>
        </p:nvSpPr>
        <p:spPr bwMode="auto">
          <a:xfrm>
            <a:off x="6265102" y="3101236"/>
            <a:ext cx="1219200" cy="457200"/>
          </a:xfrm>
          <a:prstGeom prst="line">
            <a:avLst/>
          </a:prstGeom>
          <a:noFill/>
          <a:ln w="3175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6722302" y="3634636"/>
            <a:ext cx="1143000" cy="5286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/>
              <a:t>(n-2)!</a:t>
            </a: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4131502" y="3634637"/>
            <a:ext cx="205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/>
              <a:t>(n-1)          *</a:t>
            </a:r>
          </a:p>
        </p:txBody>
      </p:sp>
      <p:sp>
        <p:nvSpPr>
          <p:cNvPr id="14" name="Line 15"/>
          <p:cNvSpPr>
            <a:spLocks noChangeShapeType="1"/>
          </p:cNvSpPr>
          <p:nvPr/>
        </p:nvSpPr>
        <p:spPr bwMode="auto">
          <a:xfrm>
            <a:off x="7255702" y="4168036"/>
            <a:ext cx="685800" cy="457200"/>
          </a:xfrm>
          <a:prstGeom prst="line">
            <a:avLst/>
          </a:prstGeom>
          <a:noFill/>
          <a:ln w="31750">
            <a:solidFill>
              <a:schemeClr val="tx1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" name="Text Box 16"/>
          <p:cNvSpPr txBox="1">
            <a:spLocks noChangeArrowheads="1"/>
          </p:cNvSpPr>
          <p:nvPr/>
        </p:nvSpPr>
        <p:spPr bwMode="auto">
          <a:xfrm>
            <a:off x="7484302" y="4625236"/>
            <a:ext cx="838200" cy="5286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/>
              <a:t>  1!</a:t>
            </a:r>
          </a:p>
        </p:txBody>
      </p:sp>
      <p:sp>
        <p:nvSpPr>
          <p:cNvPr id="16" name="Line 20"/>
          <p:cNvSpPr>
            <a:spLocks noChangeShapeType="1"/>
          </p:cNvSpPr>
          <p:nvPr/>
        </p:nvSpPr>
        <p:spPr bwMode="auto">
          <a:xfrm flipH="1">
            <a:off x="6874702" y="4168036"/>
            <a:ext cx="304800" cy="228600"/>
          </a:xfrm>
          <a:prstGeom prst="line">
            <a:avLst/>
          </a:prstGeom>
          <a:noFill/>
          <a:ln w="31750">
            <a:solidFill>
              <a:schemeClr val="tx1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" name="Line 21"/>
          <p:cNvSpPr>
            <a:spLocks noChangeShapeType="1"/>
          </p:cNvSpPr>
          <p:nvPr/>
        </p:nvSpPr>
        <p:spPr bwMode="auto">
          <a:xfrm flipH="1">
            <a:off x="7103302" y="5158636"/>
            <a:ext cx="685800" cy="304800"/>
          </a:xfrm>
          <a:prstGeom prst="line">
            <a:avLst/>
          </a:prstGeom>
          <a:noFill/>
          <a:ln w="3175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" name="Line 22"/>
          <p:cNvSpPr>
            <a:spLocks noChangeShapeType="1"/>
          </p:cNvSpPr>
          <p:nvPr/>
        </p:nvSpPr>
        <p:spPr bwMode="auto">
          <a:xfrm>
            <a:off x="7941502" y="5158636"/>
            <a:ext cx="838200" cy="304800"/>
          </a:xfrm>
          <a:prstGeom prst="line">
            <a:avLst/>
          </a:prstGeom>
          <a:noFill/>
          <a:ln w="3175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9" name="Text Box 24"/>
          <p:cNvSpPr txBox="1">
            <a:spLocks noChangeArrowheads="1"/>
          </p:cNvSpPr>
          <p:nvPr/>
        </p:nvSpPr>
        <p:spPr bwMode="auto">
          <a:xfrm>
            <a:off x="8551102" y="5463437"/>
            <a:ext cx="685800" cy="466725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 0!</a:t>
            </a:r>
          </a:p>
        </p:txBody>
      </p:sp>
      <p:sp>
        <p:nvSpPr>
          <p:cNvPr id="20" name="Text Box 25"/>
          <p:cNvSpPr txBox="1">
            <a:spLocks noChangeArrowheads="1"/>
          </p:cNvSpPr>
          <p:nvPr/>
        </p:nvSpPr>
        <p:spPr bwMode="auto">
          <a:xfrm>
            <a:off x="6950902" y="5463436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1      *</a:t>
            </a:r>
          </a:p>
        </p:txBody>
      </p:sp>
      <p:sp>
        <p:nvSpPr>
          <p:cNvPr id="21" name="Freeform 30"/>
          <p:cNvSpPr>
            <a:spLocks/>
          </p:cNvSpPr>
          <p:nvPr/>
        </p:nvSpPr>
        <p:spPr bwMode="auto">
          <a:xfrm>
            <a:off x="8703502" y="5692036"/>
            <a:ext cx="914400" cy="673100"/>
          </a:xfrm>
          <a:custGeom>
            <a:avLst/>
            <a:gdLst>
              <a:gd name="T0" fmla="*/ 0 w 576"/>
              <a:gd name="T1" fmla="*/ 381000 h 424"/>
              <a:gd name="T2" fmla="*/ 228600 w 576"/>
              <a:gd name="T3" fmla="*/ 609600 h 424"/>
              <a:gd name="T4" fmla="*/ 914400 w 576"/>
              <a:gd name="T5" fmla="*/ 0 h 4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76" h="424">
                <a:moveTo>
                  <a:pt x="0" y="240"/>
                </a:moveTo>
                <a:cubicBezTo>
                  <a:pt x="24" y="332"/>
                  <a:pt x="48" y="424"/>
                  <a:pt x="144" y="384"/>
                </a:cubicBezTo>
                <a:cubicBezTo>
                  <a:pt x="240" y="344"/>
                  <a:pt x="504" y="72"/>
                  <a:pt x="576" y="0"/>
                </a:cubicBezTo>
              </a:path>
            </a:pathLst>
          </a:custGeom>
          <a:noFill/>
          <a:ln w="76200" cap="flat" cmpd="sng">
            <a:solidFill>
              <a:srgbClr val="00FF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" name="AutoShape 31"/>
          <p:cNvSpPr>
            <a:spLocks noChangeArrowheads="1"/>
          </p:cNvSpPr>
          <p:nvPr/>
        </p:nvSpPr>
        <p:spPr bwMode="auto">
          <a:xfrm>
            <a:off x="7941502" y="2110636"/>
            <a:ext cx="2438400" cy="2819400"/>
          </a:xfrm>
          <a:prstGeom prst="wedgeEllipseCallout">
            <a:avLst>
              <a:gd name="adj1" fmla="val -5273"/>
              <a:gd name="adj2" fmla="val 6999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sz="2800"/>
              <a:t>We know 0! So we can build the tree backward</a:t>
            </a:r>
          </a:p>
        </p:txBody>
      </p:sp>
    </p:spTree>
    <p:extLst>
      <p:ext uri="{BB962C8B-B14F-4D97-AF65-F5344CB8AC3E}">
        <p14:creationId xmlns:p14="http://schemas.microsoft.com/office/powerpoint/2010/main" val="4078729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7000" y="601249"/>
            <a:ext cx="6858000" cy="801666"/>
          </a:xfrm>
        </p:spPr>
        <p:txBody>
          <a:bodyPr>
            <a:normAutofit/>
          </a:bodyPr>
          <a:lstStyle/>
          <a:p>
            <a:r>
              <a:rPr lang="en-US" sz="3200" dirty="0"/>
              <a:t>Exercise</a:t>
            </a:r>
            <a:endParaRPr lang="en-US" sz="32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0" y="1653436"/>
            <a:ext cx="6858000" cy="4702914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Draw the recursive tree for 5!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How does it calculate 5! ?    Is it:</a:t>
            </a:r>
          </a:p>
          <a:p>
            <a:r>
              <a:rPr lang="en-US" sz="2000" dirty="0"/>
              <a:t>                                                       </a:t>
            </a:r>
            <a:r>
              <a:rPr lang="en-US" sz="2000" i="1" dirty="0"/>
              <a:t>Bottom to top</a:t>
            </a:r>
            <a:r>
              <a:rPr lang="en-US" sz="2000" dirty="0"/>
              <a:t> calculation or</a:t>
            </a:r>
          </a:p>
          <a:p>
            <a:r>
              <a:rPr lang="en-US" sz="2000" dirty="0"/>
              <a:t>                                                   </a:t>
            </a:r>
            <a:r>
              <a:rPr lang="en-US" sz="2000" i="1" dirty="0"/>
              <a:t>Top to bottom</a:t>
            </a:r>
            <a:r>
              <a:rPr lang="en-US" sz="2000" dirty="0"/>
              <a:t> calculation ?</a:t>
            </a:r>
          </a:p>
          <a:p>
            <a:pPr>
              <a:defRPr/>
            </a:pPr>
            <a:r>
              <a:rPr lang="en-US" altLang="en-US" sz="2000" dirty="0"/>
              <a:t>	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11DF7-A42A-4107-A9E6-6C3947535C56}" type="slidenum">
              <a:rPr lang="en-US" smtClean="0"/>
              <a:pPr/>
              <a:t>4</a:t>
            </a:fld>
            <a:endParaRPr lang="en-US"/>
          </a:p>
        </p:txBody>
      </p:sp>
      <p:grpSp>
        <p:nvGrpSpPr>
          <p:cNvPr id="33" name="Group 32"/>
          <p:cNvGrpSpPr/>
          <p:nvPr/>
        </p:nvGrpSpPr>
        <p:grpSpPr>
          <a:xfrm>
            <a:off x="2851760" y="2908562"/>
            <a:ext cx="7565720" cy="3698308"/>
            <a:chOff x="990600" y="1905000"/>
            <a:chExt cx="8153400" cy="5067680"/>
          </a:xfrm>
        </p:grpSpPr>
        <p:sp>
          <p:nvSpPr>
            <p:cNvPr id="5" name="Text Box 4"/>
            <p:cNvSpPr txBox="1">
              <a:spLocks noChangeArrowheads="1"/>
            </p:cNvSpPr>
            <p:nvPr/>
          </p:nvSpPr>
          <p:spPr bwMode="auto">
            <a:xfrm>
              <a:off x="1447800" y="1905000"/>
              <a:ext cx="533400" cy="6326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5!</a:t>
              </a:r>
            </a:p>
          </p:txBody>
        </p:sp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990600" y="2667000"/>
              <a:ext cx="533400" cy="6326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5</a:t>
              </a:r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2514600" y="2667000"/>
              <a:ext cx="533400" cy="6326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4!</a:t>
              </a:r>
            </a:p>
          </p:txBody>
        </p:sp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1828800" y="3505200"/>
              <a:ext cx="533400" cy="6326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4</a:t>
              </a:r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3352800" y="3505200"/>
              <a:ext cx="533400" cy="6326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3!</a:t>
              </a:r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 flipH="1">
              <a:off x="1295400" y="2362200"/>
              <a:ext cx="381000" cy="30480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1828800" y="2362200"/>
              <a:ext cx="762000" cy="30480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 flipH="1">
              <a:off x="2209800" y="3124200"/>
              <a:ext cx="533400" cy="38100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2819400" y="3124200"/>
              <a:ext cx="685800" cy="38100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2819400" y="4343399"/>
              <a:ext cx="533400" cy="6326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3</a:t>
              </a:r>
            </a:p>
          </p:txBody>
        </p:sp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>
              <a:off x="4343400" y="4343399"/>
              <a:ext cx="533400" cy="6326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2!</a:t>
              </a:r>
            </a:p>
          </p:txBody>
        </p:sp>
        <p:sp>
          <p:nvSpPr>
            <p:cNvPr id="16" name="Text Box 15"/>
            <p:cNvSpPr txBox="1">
              <a:spLocks noChangeArrowheads="1"/>
            </p:cNvSpPr>
            <p:nvPr/>
          </p:nvSpPr>
          <p:spPr bwMode="auto">
            <a:xfrm>
              <a:off x="3657600" y="5181600"/>
              <a:ext cx="533400" cy="6326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17" name="Text Box 16"/>
            <p:cNvSpPr txBox="1">
              <a:spLocks noChangeArrowheads="1"/>
            </p:cNvSpPr>
            <p:nvPr/>
          </p:nvSpPr>
          <p:spPr bwMode="auto">
            <a:xfrm>
              <a:off x="5181599" y="5181600"/>
              <a:ext cx="533400" cy="6326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1!</a:t>
              </a:r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 flipH="1">
              <a:off x="3124200" y="4038600"/>
              <a:ext cx="381000" cy="30480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>
              <a:off x="3657600" y="4038600"/>
              <a:ext cx="762000" cy="30480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 flipH="1">
              <a:off x="4038600" y="4800600"/>
              <a:ext cx="533400" cy="38100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" name="Line 20"/>
            <p:cNvSpPr>
              <a:spLocks noChangeShapeType="1"/>
            </p:cNvSpPr>
            <p:nvPr/>
          </p:nvSpPr>
          <p:spPr bwMode="auto">
            <a:xfrm>
              <a:off x="4648200" y="4800600"/>
              <a:ext cx="685800" cy="38100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" name="Text Box 21"/>
            <p:cNvSpPr txBox="1">
              <a:spLocks noChangeArrowheads="1"/>
            </p:cNvSpPr>
            <p:nvPr/>
          </p:nvSpPr>
          <p:spPr bwMode="auto">
            <a:xfrm>
              <a:off x="4419600" y="6096001"/>
              <a:ext cx="533400" cy="6326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23" name="Text Box 22"/>
            <p:cNvSpPr txBox="1">
              <a:spLocks noChangeArrowheads="1"/>
            </p:cNvSpPr>
            <p:nvPr/>
          </p:nvSpPr>
          <p:spPr bwMode="auto">
            <a:xfrm>
              <a:off x="5943600" y="6096001"/>
              <a:ext cx="533400" cy="632606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0!</a:t>
              </a:r>
            </a:p>
          </p:txBody>
        </p:sp>
        <p:sp>
          <p:nvSpPr>
            <p:cNvPr id="24" name="Line 23"/>
            <p:cNvSpPr>
              <a:spLocks noChangeShapeType="1"/>
            </p:cNvSpPr>
            <p:nvPr/>
          </p:nvSpPr>
          <p:spPr bwMode="auto">
            <a:xfrm flipH="1">
              <a:off x="4648200" y="5715000"/>
              <a:ext cx="762000" cy="45720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" name="Line 24"/>
            <p:cNvSpPr>
              <a:spLocks noChangeShapeType="1"/>
            </p:cNvSpPr>
            <p:nvPr/>
          </p:nvSpPr>
          <p:spPr bwMode="auto">
            <a:xfrm>
              <a:off x="5410200" y="5715000"/>
              <a:ext cx="685800" cy="38100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6" name="Text Box 25"/>
            <p:cNvSpPr txBox="1">
              <a:spLocks noChangeArrowheads="1"/>
            </p:cNvSpPr>
            <p:nvPr/>
          </p:nvSpPr>
          <p:spPr bwMode="auto">
            <a:xfrm>
              <a:off x="1752600" y="2743200"/>
              <a:ext cx="457200" cy="6326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*</a:t>
              </a:r>
            </a:p>
          </p:txBody>
        </p:sp>
        <p:sp>
          <p:nvSpPr>
            <p:cNvPr id="27" name="Text Box 28"/>
            <p:cNvSpPr txBox="1">
              <a:spLocks noChangeArrowheads="1"/>
            </p:cNvSpPr>
            <p:nvPr/>
          </p:nvSpPr>
          <p:spPr bwMode="auto">
            <a:xfrm>
              <a:off x="2590800" y="3505200"/>
              <a:ext cx="457200" cy="6326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*</a:t>
              </a:r>
            </a:p>
          </p:txBody>
        </p:sp>
        <p:sp>
          <p:nvSpPr>
            <p:cNvPr id="28" name="Text Box 29"/>
            <p:cNvSpPr txBox="1">
              <a:spLocks noChangeArrowheads="1"/>
            </p:cNvSpPr>
            <p:nvPr/>
          </p:nvSpPr>
          <p:spPr bwMode="auto">
            <a:xfrm>
              <a:off x="3581400" y="4343399"/>
              <a:ext cx="457200" cy="6326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*</a:t>
              </a:r>
            </a:p>
          </p:txBody>
        </p:sp>
        <p:sp>
          <p:nvSpPr>
            <p:cNvPr id="29" name="Text Box 30"/>
            <p:cNvSpPr txBox="1">
              <a:spLocks noChangeArrowheads="1"/>
            </p:cNvSpPr>
            <p:nvPr/>
          </p:nvSpPr>
          <p:spPr bwMode="auto">
            <a:xfrm>
              <a:off x="4495801" y="5181600"/>
              <a:ext cx="457200" cy="6326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*</a:t>
              </a:r>
            </a:p>
          </p:txBody>
        </p:sp>
        <p:sp>
          <p:nvSpPr>
            <p:cNvPr id="30" name="Text Box 31"/>
            <p:cNvSpPr txBox="1">
              <a:spLocks noChangeArrowheads="1"/>
            </p:cNvSpPr>
            <p:nvPr/>
          </p:nvSpPr>
          <p:spPr bwMode="auto">
            <a:xfrm>
              <a:off x="5181599" y="6096001"/>
              <a:ext cx="457200" cy="6326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*</a:t>
              </a:r>
            </a:p>
          </p:txBody>
        </p:sp>
        <p:sp>
          <p:nvSpPr>
            <p:cNvPr id="31" name="AutoShape 32"/>
            <p:cNvSpPr>
              <a:spLocks noChangeArrowheads="1"/>
            </p:cNvSpPr>
            <p:nvPr/>
          </p:nvSpPr>
          <p:spPr bwMode="auto">
            <a:xfrm>
              <a:off x="7086600" y="5714998"/>
              <a:ext cx="2057400" cy="1257682"/>
            </a:xfrm>
            <a:prstGeom prst="wedgeRoundRectCallout">
              <a:avLst>
                <a:gd name="adj1" fmla="val -87500"/>
                <a:gd name="adj2" fmla="val -18750"/>
                <a:gd name="adj3" fmla="val 16667"/>
              </a:avLst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sz="3200" b="1" i="1" dirty="0"/>
                <a:t>initial condition</a:t>
              </a:r>
              <a:r>
                <a:rPr lang="en-US" sz="3200" dirty="0"/>
                <a:t>.  </a:t>
              </a:r>
            </a:p>
            <a:p>
              <a:pPr algn="ctr" eaLnBrk="1" hangingPunct="1"/>
              <a:endParaRPr lang="en-US" dirty="0"/>
            </a:p>
          </p:txBody>
        </p:sp>
        <p:sp>
          <p:nvSpPr>
            <p:cNvPr id="32" name="AutoShape 34"/>
            <p:cNvSpPr>
              <a:spLocks noChangeArrowheads="1"/>
            </p:cNvSpPr>
            <p:nvPr/>
          </p:nvSpPr>
          <p:spPr bwMode="auto">
            <a:xfrm rot="2009593">
              <a:off x="2381648" y="2664193"/>
              <a:ext cx="6115289" cy="1511760"/>
            </a:xfrm>
            <a:prstGeom prst="leftArrow">
              <a:avLst>
                <a:gd name="adj1" fmla="val 50000"/>
                <a:gd name="adj2" fmla="val 114050"/>
              </a:avLst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dirty="0"/>
                <a:t>Build the answer from bottom to top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37434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7000" y="601249"/>
            <a:ext cx="6858000" cy="801666"/>
          </a:xfrm>
        </p:spPr>
        <p:txBody>
          <a:bodyPr>
            <a:normAutofit/>
          </a:bodyPr>
          <a:lstStyle/>
          <a:p>
            <a:r>
              <a:rPr lang="en-US" sz="3200" dirty="0"/>
              <a:t>Factorial(contd.)</a:t>
            </a:r>
            <a:endParaRPr lang="en-US" sz="32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0" y="1653436"/>
            <a:ext cx="6858000" cy="3604364"/>
          </a:xfrm>
        </p:spPr>
        <p:txBody>
          <a:bodyPr>
            <a:normAutofit/>
          </a:bodyPr>
          <a:lstStyle/>
          <a:p>
            <a:pPr lvl="1" indent="-457200" algn="l">
              <a:defRPr/>
            </a:pPr>
            <a:r>
              <a:rPr lang="en-US" altLang="en-US" sz="2200" dirty="0"/>
              <a:t>		</a:t>
            </a:r>
          </a:p>
          <a:p>
            <a:pPr marL="342900" indent="-342900" algn="l">
              <a:buFontTx/>
              <a:buChar char="-"/>
              <a:defRPr/>
            </a:pPr>
            <a:endParaRPr lang="en-US" altLang="en-US" dirty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11DF7-A42A-4107-A9E6-6C3947535C5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3678477" y="3482106"/>
            <a:ext cx="4709786" cy="2693401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Wingdings" panose="05000000000000000000" pitchFamily="2" charset="2"/>
              <a:buNone/>
            </a:pPr>
            <a:r>
              <a:rPr lang="en-US" b="1" dirty="0" err="1">
                <a:latin typeface="Arial Unicode MS" panose="020B0604020202020204" pitchFamily="34" charset="-128"/>
              </a:rPr>
              <a:t>int</a:t>
            </a:r>
            <a:r>
              <a:rPr lang="en-US" dirty="0">
                <a:latin typeface="Arial Unicode MS" panose="020B0604020202020204" pitchFamily="34" charset="-128"/>
              </a:rPr>
              <a:t> </a:t>
            </a:r>
            <a:r>
              <a:rPr lang="en-US" dirty="0">
                <a:solidFill>
                  <a:srgbClr val="6B4303"/>
                </a:solidFill>
                <a:latin typeface="Arial Unicode MS" panose="020B0604020202020204" pitchFamily="34" charset="-128"/>
              </a:rPr>
              <a:t>factorial</a:t>
            </a:r>
            <a:r>
              <a:rPr lang="en-US" dirty="0">
                <a:latin typeface="Arial Unicode MS" panose="020B0604020202020204" pitchFamily="34" charset="-128"/>
              </a:rPr>
              <a:t>(</a:t>
            </a:r>
            <a:r>
              <a:rPr lang="en-US" dirty="0" err="1">
                <a:latin typeface="Arial Unicode MS" panose="020B0604020202020204" pitchFamily="34" charset="-128"/>
              </a:rPr>
              <a:t>int</a:t>
            </a:r>
            <a:r>
              <a:rPr lang="en-US" dirty="0">
                <a:latin typeface="Arial Unicode MS" panose="020B0604020202020204" pitchFamily="34" charset="-128"/>
              </a:rPr>
              <a:t> </a:t>
            </a:r>
            <a:r>
              <a:rPr lang="en-US" i="1" dirty="0">
                <a:latin typeface="Arial Unicode MS" panose="020B0604020202020204" pitchFamily="34" charset="-128"/>
              </a:rPr>
              <a:t>n</a:t>
            </a:r>
            <a:r>
              <a:rPr lang="en-US" dirty="0">
                <a:latin typeface="Arial Unicode MS" panose="020B0604020202020204" pitchFamily="34" charset="-128"/>
              </a:rPr>
              <a:t>) {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b="1" dirty="0">
                <a:latin typeface="Arial Unicode MS" panose="020B0604020202020204" pitchFamily="34" charset="-128"/>
              </a:rPr>
              <a:t>    if</a:t>
            </a:r>
            <a:r>
              <a:rPr lang="en-US" dirty="0">
                <a:latin typeface="Arial Unicode MS" panose="020B0604020202020204" pitchFamily="34" charset="-128"/>
              </a:rPr>
              <a:t> (</a:t>
            </a:r>
            <a:r>
              <a:rPr lang="en-US" i="1" dirty="0">
                <a:latin typeface="Arial Unicode MS" panose="020B0604020202020204" pitchFamily="34" charset="-128"/>
              </a:rPr>
              <a:t>n</a:t>
            </a:r>
            <a:r>
              <a:rPr lang="en-US" dirty="0">
                <a:latin typeface="Arial Unicode MS" panose="020B0604020202020204" pitchFamily="34" charset="-128"/>
              </a:rPr>
              <a:t> == 0)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dirty="0">
                <a:latin typeface="Arial Unicode MS" panose="020B0604020202020204" pitchFamily="34" charset="-128"/>
              </a:rPr>
              <a:t>            </a:t>
            </a:r>
            <a:r>
              <a:rPr lang="en-US" b="1" dirty="0">
                <a:latin typeface="Arial Unicode MS" panose="020B0604020202020204" pitchFamily="34" charset="-128"/>
              </a:rPr>
              <a:t>return</a:t>
            </a:r>
            <a:r>
              <a:rPr lang="en-US" dirty="0">
                <a:latin typeface="Arial Unicode MS" panose="020B0604020202020204" pitchFamily="34" charset="-128"/>
              </a:rPr>
              <a:t> 1;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b="1" dirty="0">
                <a:latin typeface="Arial Unicode MS" panose="020B0604020202020204" pitchFamily="34" charset="-128"/>
              </a:rPr>
              <a:t>    else</a:t>
            </a:r>
            <a:r>
              <a:rPr lang="en-US" dirty="0">
                <a:latin typeface="Arial Unicode MS" panose="020B0604020202020204" pitchFamily="34" charset="-128"/>
              </a:rPr>
              <a:t> 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b="1" dirty="0">
                <a:latin typeface="Arial Unicode MS" panose="020B0604020202020204" pitchFamily="34" charset="-128"/>
              </a:rPr>
              <a:t>	 return</a:t>
            </a:r>
            <a:r>
              <a:rPr lang="en-US" dirty="0">
                <a:latin typeface="Arial Unicode MS" panose="020B0604020202020204" pitchFamily="34" charset="-128"/>
              </a:rPr>
              <a:t> (</a:t>
            </a:r>
            <a:r>
              <a:rPr lang="en-US" i="1" dirty="0">
                <a:latin typeface="Arial Unicode MS" panose="020B0604020202020204" pitchFamily="34" charset="-128"/>
              </a:rPr>
              <a:t>n</a:t>
            </a:r>
            <a:r>
              <a:rPr lang="en-US" dirty="0">
                <a:latin typeface="Arial Unicode MS" panose="020B0604020202020204" pitchFamily="34" charset="-128"/>
              </a:rPr>
              <a:t> * </a:t>
            </a:r>
            <a:r>
              <a:rPr lang="en-US" dirty="0">
                <a:solidFill>
                  <a:srgbClr val="6B4303"/>
                </a:solidFill>
                <a:latin typeface="Arial Unicode MS" panose="020B0604020202020204" pitchFamily="34" charset="-128"/>
              </a:rPr>
              <a:t>factorial</a:t>
            </a:r>
            <a:r>
              <a:rPr lang="en-US" dirty="0">
                <a:latin typeface="Arial Unicode MS" panose="020B0604020202020204" pitchFamily="34" charset="-128"/>
              </a:rPr>
              <a:t>(</a:t>
            </a:r>
            <a:r>
              <a:rPr lang="en-US" i="1" dirty="0">
                <a:latin typeface="Arial Unicode MS" panose="020B0604020202020204" pitchFamily="34" charset="-128"/>
              </a:rPr>
              <a:t>n</a:t>
            </a:r>
            <a:r>
              <a:rPr lang="en-US" dirty="0">
                <a:latin typeface="Arial Unicode MS" panose="020B0604020202020204" pitchFamily="34" charset="-128"/>
              </a:rPr>
              <a:t>-1)); 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dirty="0">
                <a:latin typeface="Arial Unicode MS" panose="020B0604020202020204" pitchFamily="34" charset="-128"/>
              </a:rPr>
              <a:t>}</a:t>
            </a:r>
            <a:endParaRPr lang="en-US" dirty="0"/>
          </a:p>
        </p:txBody>
      </p:sp>
      <p:sp>
        <p:nvSpPr>
          <p:cNvPr id="11" name="AutoShape 4"/>
          <p:cNvSpPr>
            <a:spLocks noChangeArrowheads="1"/>
          </p:cNvSpPr>
          <p:nvPr/>
        </p:nvSpPr>
        <p:spPr bwMode="auto">
          <a:xfrm>
            <a:off x="3478061" y="1557570"/>
            <a:ext cx="5148197" cy="1269696"/>
          </a:xfrm>
          <a:prstGeom prst="wedgeRoundRectCallout">
            <a:avLst>
              <a:gd name="adj1" fmla="val -33556"/>
              <a:gd name="adj2" fmla="val -52083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dirty="0">
                <a:latin typeface="Arial Unicode MS" panose="020B0604020202020204" pitchFamily="34" charset="-128"/>
              </a:rPr>
              <a:t>(</a:t>
            </a:r>
            <a:r>
              <a:rPr lang="en-US" i="1" dirty="0">
                <a:latin typeface="Arial Unicode MS" panose="020B0604020202020204" pitchFamily="34" charset="-128"/>
              </a:rPr>
              <a:t>n</a:t>
            </a:r>
            <a:r>
              <a:rPr lang="en-US" dirty="0">
                <a:latin typeface="Arial Unicode MS" panose="020B0604020202020204" pitchFamily="34" charset="-128"/>
              </a:rPr>
              <a:t>)! = {</a:t>
            </a:r>
            <a:r>
              <a:rPr lang="en-US" i="1" dirty="0">
                <a:latin typeface="Arial Unicode MS" panose="020B0604020202020204" pitchFamily="34" charset="-128"/>
              </a:rPr>
              <a:t>n</a:t>
            </a:r>
            <a:r>
              <a:rPr lang="en-US" dirty="0">
                <a:latin typeface="Arial Unicode MS" panose="020B0604020202020204" pitchFamily="34" charset="-128"/>
              </a:rPr>
              <a:t> * (</a:t>
            </a:r>
            <a:r>
              <a:rPr lang="en-US" i="1" dirty="0">
                <a:latin typeface="Arial Unicode MS" panose="020B0604020202020204" pitchFamily="34" charset="-128"/>
              </a:rPr>
              <a:t>n </a:t>
            </a:r>
            <a:r>
              <a:rPr lang="en-US" dirty="0">
                <a:latin typeface="Arial Unicode MS" panose="020B0604020202020204" pitchFamily="34" charset="-128"/>
              </a:rPr>
              <a:t>-1)!   if </a:t>
            </a:r>
            <a:r>
              <a:rPr lang="en-US" i="1" dirty="0">
                <a:latin typeface="Arial Unicode MS" panose="020B0604020202020204" pitchFamily="34" charset="-128"/>
              </a:rPr>
              <a:t>n </a:t>
            </a:r>
            <a:r>
              <a:rPr lang="en-US" dirty="0">
                <a:latin typeface="Arial Unicode MS" panose="020B0604020202020204" pitchFamily="34" charset="-128"/>
              </a:rPr>
              <a:t>&gt; 0} </a:t>
            </a:r>
          </a:p>
          <a:p>
            <a:pPr eaLnBrk="1" hangingPunct="1">
              <a:spcBef>
                <a:spcPct val="2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dirty="0">
                <a:latin typeface="Arial Unicode MS" panose="020B0604020202020204" pitchFamily="34" charset="-128"/>
              </a:rPr>
              <a:t>          {1                if </a:t>
            </a:r>
            <a:r>
              <a:rPr lang="en-US" i="1" dirty="0">
                <a:latin typeface="Arial Unicode MS" panose="020B0604020202020204" pitchFamily="34" charset="-128"/>
              </a:rPr>
              <a:t>n </a:t>
            </a:r>
            <a:r>
              <a:rPr lang="en-US" dirty="0">
                <a:latin typeface="Arial Unicode MS" panose="020B0604020202020204" pitchFamily="34" charset="-128"/>
              </a:rPr>
              <a:t>= 0}</a:t>
            </a:r>
          </a:p>
        </p:txBody>
      </p:sp>
      <p:sp>
        <p:nvSpPr>
          <p:cNvPr id="12" name="AutoShape 9"/>
          <p:cNvSpPr>
            <a:spLocks noChangeArrowheads="1"/>
          </p:cNvSpPr>
          <p:nvPr/>
        </p:nvSpPr>
        <p:spPr bwMode="auto">
          <a:xfrm rot="16213905">
            <a:off x="7563779" y="3247852"/>
            <a:ext cx="3297171" cy="983518"/>
          </a:xfrm>
          <a:prstGeom prst="curvedUpArrow">
            <a:avLst>
              <a:gd name="adj1" fmla="val 49242"/>
              <a:gd name="adj2" fmla="val 98484"/>
              <a:gd name="adj3" fmla="val 2517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sz="2800"/>
              <a:t>Compare</a:t>
            </a:r>
          </a:p>
        </p:txBody>
      </p:sp>
    </p:spTree>
    <p:extLst>
      <p:ext uri="{BB962C8B-B14F-4D97-AF65-F5344CB8AC3E}">
        <p14:creationId xmlns:p14="http://schemas.microsoft.com/office/powerpoint/2010/main" val="2453184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7000" y="601249"/>
            <a:ext cx="6858000" cy="801666"/>
          </a:xfrm>
        </p:spPr>
        <p:txBody>
          <a:bodyPr>
            <a:normAutofit/>
          </a:bodyPr>
          <a:lstStyle/>
          <a:p>
            <a:r>
              <a:rPr lang="en-US" altLang="en-US" sz="3200" dirty="0">
                <a:latin typeface="+mn-lt"/>
              </a:rPr>
              <a:t>Recursion</a:t>
            </a:r>
            <a:endParaRPr lang="en-US" sz="32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9886" y="1653436"/>
            <a:ext cx="8718115" cy="3604364"/>
          </a:xfrm>
        </p:spPr>
        <p:txBody>
          <a:bodyPr/>
          <a:lstStyle/>
          <a:p>
            <a:pPr algn="l">
              <a:defRPr/>
            </a:pPr>
            <a:endParaRPr lang="en-US" altLang="en-US" dirty="0"/>
          </a:p>
          <a:p>
            <a:pPr algn="l"/>
            <a:r>
              <a:rPr lang="en-US" b="1" dirty="0"/>
              <a:t>What is recursion? </a:t>
            </a:r>
          </a:p>
          <a:p>
            <a:pPr algn="l"/>
            <a:r>
              <a:rPr lang="en-US" dirty="0"/>
              <a:t>A function that calls </a:t>
            </a:r>
            <a:r>
              <a:rPr lang="en-US" dirty="0">
                <a:solidFill>
                  <a:srgbClr val="CA3912"/>
                </a:solidFill>
              </a:rPr>
              <a:t>itself</a:t>
            </a:r>
            <a:r>
              <a:rPr lang="en-US" dirty="0"/>
              <a:t> directly or indirectly to solve a smaller version of its task until a final call which does not require a self-call is a </a:t>
            </a:r>
            <a:r>
              <a:rPr lang="en-US" b="1" i="1" dirty="0"/>
              <a:t>recursive</a:t>
            </a:r>
            <a:r>
              <a:rPr lang="en-US" dirty="0"/>
              <a:t> function</a:t>
            </a:r>
            <a:r>
              <a:rPr lang="en-US" dirty="0" smtClean="0"/>
              <a:t>.</a:t>
            </a:r>
          </a:p>
          <a:p>
            <a:pPr algn="l"/>
            <a:endParaRPr lang="en-US" dirty="0"/>
          </a:p>
          <a:p>
            <a:pPr algn="l"/>
            <a:endParaRPr lang="en-US" altLang="en-US" dirty="0"/>
          </a:p>
          <a:p>
            <a:endParaRPr lang="en-US" altLang="en-US" dirty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11DF7-A42A-4107-A9E6-6C3947535C5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717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7000" y="601249"/>
            <a:ext cx="6858000" cy="801666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Recurrence equation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0" y="1653436"/>
            <a:ext cx="6858000" cy="3604364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Mathematical function that </a:t>
            </a:r>
            <a:r>
              <a:rPr lang="en-US" dirty="0" smtClean="0">
                <a:cs typeface="Times New Roman" panose="02020603050405020304" pitchFamily="18" charset="0"/>
              </a:rPr>
              <a:t>defines </a:t>
            </a:r>
            <a:r>
              <a:rPr lang="en-US" dirty="0">
                <a:cs typeface="Times New Roman" panose="02020603050405020304" pitchFamily="18" charset="0"/>
              </a:rPr>
              <a:t>the running time of recursive functions</a:t>
            </a:r>
            <a:r>
              <a:rPr lang="en-US" dirty="0" smtClean="0">
                <a:cs typeface="Times New Roman" panose="02020603050405020304" pitchFamily="18" charset="0"/>
              </a:rPr>
              <a:t>.</a:t>
            </a:r>
          </a:p>
          <a:p>
            <a:pPr algn="l"/>
            <a:endParaRPr lang="en-US" dirty="0"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This describes the overall running time on a problem of size </a:t>
            </a:r>
            <a:r>
              <a:rPr lang="en-US" i="1" dirty="0">
                <a:cs typeface="Times New Roman" panose="02020603050405020304" pitchFamily="18" charset="0"/>
              </a:rPr>
              <a:t>n</a:t>
            </a:r>
            <a:r>
              <a:rPr lang="en-US" dirty="0">
                <a:cs typeface="Times New Roman" panose="02020603050405020304" pitchFamily="18" charset="0"/>
              </a:rPr>
              <a:t> in terms of the running time on smaller inputs. </a:t>
            </a:r>
            <a:endParaRPr lang="en-US" dirty="0" smtClean="0">
              <a:cs typeface="Times New Roman" panose="02020603050405020304" pitchFamily="18" charset="0"/>
            </a:endParaRPr>
          </a:p>
          <a:p>
            <a:pPr algn="l"/>
            <a:endParaRPr lang="en-US" dirty="0">
              <a:cs typeface="Times New Roman" panose="02020603050405020304" pitchFamily="18" charset="0"/>
            </a:endParaRPr>
          </a:p>
          <a:p>
            <a:pPr lvl="1" algn="l"/>
            <a:r>
              <a:rPr lang="en-US" dirty="0" smtClean="0"/>
              <a:t>Ex:         </a:t>
            </a:r>
            <a:r>
              <a:rPr lang="en-US" sz="2400" i="1" dirty="0"/>
              <a:t>T(N) = T(N-1) + b</a:t>
            </a:r>
          </a:p>
          <a:p>
            <a:pPr lvl="1" algn="l"/>
            <a:r>
              <a:rPr lang="en-US" sz="2400" i="1" dirty="0"/>
              <a:t>            T(N) = T(N/2) + c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11DF7-A42A-4107-A9E6-6C3947535C5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095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7000" y="601249"/>
            <a:ext cx="6858000" cy="801666"/>
          </a:xfrm>
        </p:spPr>
        <p:txBody>
          <a:bodyPr>
            <a:normAutofit/>
          </a:bodyPr>
          <a:lstStyle/>
          <a:p>
            <a:r>
              <a:rPr lang="en-US" sz="3200" dirty="0"/>
              <a:t>Recurrence - Example1</a:t>
            </a:r>
            <a:endParaRPr lang="en-US" sz="32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0" y="1653436"/>
            <a:ext cx="6858000" cy="4534422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Find the Running time of the following function </a:t>
            </a:r>
          </a:p>
          <a:p>
            <a:pPr algn="l"/>
            <a:r>
              <a:rPr lang="en-US" sz="2000" dirty="0"/>
              <a:t>  </a:t>
            </a:r>
          </a:p>
          <a:p>
            <a:pPr algn="l"/>
            <a:r>
              <a:rPr lang="en-US" sz="2000" dirty="0"/>
              <a:t>	</a:t>
            </a:r>
          </a:p>
          <a:p>
            <a:pPr algn="l"/>
            <a:endParaRPr lang="en-US" sz="2000" dirty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11DF7-A42A-4107-A9E6-6C3947535C56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783388" y="2045918"/>
            <a:ext cx="6625225" cy="228062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sz="1800" b="1" dirty="0" err="1">
                <a:latin typeface="Arial Unicode MS" panose="020B0604020202020204" pitchFamily="34" charset="-128"/>
              </a:rPr>
              <a:t>int</a:t>
            </a:r>
            <a:r>
              <a:rPr lang="en-US" sz="1800" dirty="0">
                <a:latin typeface="Arial Unicode MS" panose="020B0604020202020204" pitchFamily="34" charset="-128"/>
              </a:rPr>
              <a:t> </a:t>
            </a:r>
            <a:r>
              <a:rPr lang="en-US" sz="1800" dirty="0">
                <a:solidFill>
                  <a:srgbClr val="6B4303"/>
                </a:solidFill>
                <a:latin typeface="Arial Unicode MS" panose="020B0604020202020204" pitchFamily="34" charset="-128"/>
              </a:rPr>
              <a:t>factorial</a:t>
            </a:r>
            <a:r>
              <a:rPr lang="en-US" sz="1800" dirty="0">
                <a:latin typeface="Arial Unicode MS" panose="020B0604020202020204" pitchFamily="34" charset="-128"/>
              </a:rPr>
              <a:t>(</a:t>
            </a:r>
            <a:r>
              <a:rPr lang="en-US" sz="1800" dirty="0" err="1">
                <a:latin typeface="Arial Unicode MS" panose="020B0604020202020204" pitchFamily="34" charset="-128"/>
              </a:rPr>
              <a:t>int</a:t>
            </a:r>
            <a:r>
              <a:rPr lang="en-US" sz="1800" dirty="0">
                <a:latin typeface="Arial Unicode MS" panose="020B0604020202020204" pitchFamily="34" charset="-128"/>
              </a:rPr>
              <a:t> </a:t>
            </a:r>
            <a:r>
              <a:rPr lang="en-US" sz="1800" i="1" dirty="0">
                <a:latin typeface="Arial Unicode MS" panose="020B0604020202020204" pitchFamily="34" charset="-128"/>
              </a:rPr>
              <a:t>n</a:t>
            </a:r>
            <a:r>
              <a:rPr lang="en-US" sz="1800" dirty="0">
                <a:latin typeface="Arial Unicode MS" panose="020B0604020202020204" pitchFamily="34" charset="-128"/>
              </a:rPr>
              <a:t>) {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sz="1800" dirty="0">
                <a:latin typeface="Arial Unicode MS" panose="020B0604020202020204" pitchFamily="34" charset="-128"/>
              </a:rPr>
              <a:t>      </a:t>
            </a:r>
            <a:r>
              <a:rPr lang="en-US" sz="1800" b="1" dirty="0">
                <a:latin typeface="Arial Unicode MS" panose="020B0604020202020204" pitchFamily="34" charset="-128"/>
              </a:rPr>
              <a:t>if</a:t>
            </a:r>
            <a:r>
              <a:rPr lang="en-US" sz="1800" dirty="0">
                <a:latin typeface="Arial Unicode MS" panose="020B0604020202020204" pitchFamily="34" charset="-128"/>
              </a:rPr>
              <a:t> (</a:t>
            </a:r>
            <a:r>
              <a:rPr lang="en-US" sz="1800" i="1" dirty="0">
                <a:latin typeface="Arial Unicode MS" panose="020B0604020202020204" pitchFamily="34" charset="-128"/>
              </a:rPr>
              <a:t>n</a:t>
            </a:r>
            <a:r>
              <a:rPr lang="en-US" sz="1800" dirty="0">
                <a:latin typeface="Arial Unicode MS" panose="020B0604020202020204" pitchFamily="34" charset="-128"/>
              </a:rPr>
              <a:t> == 0)              //A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sz="1800" dirty="0">
                <a:latin typeface="Arial Unicode MS" panose="020B0604020202020204" pitchFamily="34" charset="-128"/>
              </a:rPr>
              <a:t>             </a:t>
            </a:r>
            <a:r>
              <a:rPr lang="en-US" sz="1800" b="1" dirty="0">
                <a:latin typeface="Arial Unicode MS" panose="020B0604020202020204" pitchFamily="34" charset="-128"/>
              </a:rPr>
              <a:t>return</a:t>
            </a:r>
            <a:r>
              <a:rPr lang="en-US" sz="1800" dirty="0">
                <a:latin typeface="Arial Unicode MS" panose="020B0604020202020204" pitchFamily="34" charset="-128"/>
              </a:rPr>
              <a:t> 1;          //B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sz="1800" dirty="0">
                <a:latin typeface="Arial Unicode MS" panose="020B0604020202020204" pitchFamily="34" charset="-128"/>
              </a:rPr>
              <a:t>      </a:t>
            </a:r>
            <a:r>
              <a:rPr lang="en-US" sz="1800" b="1" dirty="0">
                <a:latin typeface="Arial Unicode MS" panose="020B0604020202020204" pitchFamily="34" charset="-128"/>
              </a:rPr>
              <a:t>else</a:t>
            </a:r>
            <a:r>
              <a:rPr lang="en-US" sz="1800" dirty="0">
                <a:latin typeface="Arial Unicode MS" panose="020B0604020202020204" pitchFamily="34" charset="-128"/>
              </a:rPr>
              <a:t>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sz="1800" b="1" dirty="0">
                <a:latin typeface="Arial Unicode MS" panose="020B0604020202020204" pitchFamily="34" charset="-128"/>
              </a:rPr>
              <a:t>             return</a:t>
            </a:r>
            <a:r>
              <a:rPr lang="en-US" sz="1800" dirty="0">
                <a:latin typeface="Arial Unicode MS" panose="020B0604020202020204" pitchFamily="34" charset="-128"/>
              </a:rPr>
              <a:t> (</a:t>
            </a:r>
            <a:r>
              <a:rPr lang="en-US" sz="1800" i="1" dirty="0">
                <a:latin typeface="Arial Unicode MS" panose="020B0604020202020204" pitchFamily="34" charset="-128"/>
              </a:rPr>
              <a:t>n</a:t>
            </a:r>
            <a:r>
              <a:rPr lang="en-US" sz="1800" dirty="0">
                <a:latin typeface="Arial Unicode MS" panose="020B0604020202020204" pitchFamily="34" charset="-128"/>
              </a:rPr>
              <a:t> * </a:t>
            </a:r>
            <a:r>
              <a:rPr lang="en-US" sz="1800" dirty="0">
                <a:solidFill>
                  <a:srgbClr val="6B4303"/>
                </a:solidFill>
                <a:latin typeface="Arial Unicode MS" panose="020B0604020202020204" pitchFamily="34" charset="-128"/>
              </a:rPr>
              <a:t>factorial</a:t>
            </a:r>
            <a:r>
              <a:rPr lang="en-US" sz="1800" dirty="0">
                <a:latin typeface="Arial Unicode MS" panose="020B0604020202020204" pitchFamily="34" charset="-128"/>
              </a:rPr>
              <a:t>(</a:t>
            </a:r>
            <a:r>
              <a:rPr lang="en-US" sz="1800" i="1" dirty="0">
                <a:latin typeface="Arial Unicode MS" panose="020B0604020202020204" pitchFamily="34" charset="-128"/>
              </a:rPr>
              <a:t>n </a:t>
            </a:r>
            <a:r>
              <a:rPr lang="en-US" sz="1800" dirty="0">
                <a:latin typeface="Arial Unicode MS" panose="020B0604020202020204" pitchFamily="34" charset="-128"/>
              </a:rPr>
              <a:t>-1));      //C        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sz="1800" dirty="0">
                <a:latin typeface="Arial Unicode MS" panose="020B0604020202020204" pitchFamily="34" charset="-128"/>
              </a:rPr>
              <a:t>} 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3387" y="4398411"/>
            <a:ext cx="662522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Statement </a:t>
            </a:r>
            <a:r>
              <a:rPr lang="en-US" sz="2000" dirty="0">
                <a:solidFill>
                  <a:srgbClr val="CA3912"/>
                </a:solidFill>
              </a:rPr>
              <a:t>A</a:t>
            </a:r>
            <a:r>
              <a:rPr lang="en-US" sz="2000" dirty="0"/>
              <a:t> takes time </a:t>
            </a:r>
            <a:r>
              <a:rPr lang="en-US" sz="2000" dirty="0">
                <a:solidFill>
                  <a:srgbClr val="CA3912"/>
                </a:solidFill>
              </a:rPr>
              <a:t>a</a:t>
            </a:r>
            <a:r>
              <a:rPr lang="en-US" sz="2000" dirty="0"/>
              <a:t> </a:t>
            </a:r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/>
              <a:t>for the conditional evaluation</a:t>
            </a:r>
          </a:p>
          <a:p>
            <a:endParaRPr lang="en-US" sz="2000" dirty="0"/>
          </a:p>
          <a:p>
            <a:r>
              <a:rPr lang="en-US" sz="2000" dirty="0"/>
              <a:t>Statement </a:t>
            </a:r>
            <a:r>
              <a:rPr lang="en-US" sz="2000" dirty="0">
                <a:solidFill>
                  <a:srgbClr val="CA3912"/>
                </a:solidFill>
              </a:rPr>
              <a:t>B</a:t>
            </a:r>
            <a:r>
              <a:rPr lang="en-US" sz="2000" dirty="0"/>
              <a:t> takes time </a:t>
            </a:r>
            <a:r>
              <a:rPr lang="en-US" sz="2000" dirty="0">
                <a:solidFill>
                  <a:srgbClr val="CA3912"/>
                </a:solidFill>
              </a:rPr>
              <a:t>b</a:t>
            </a:r>
            <a:r>
              <a:rPr lang="en-US" sz="2000" dirty="0"/>
              <a:t> </a:t>
            </a:r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/>
              <a:t>for the return assignment</a:t>
            </a:r>
          </a:p>
          <a:p>
            <a:endParaRPr lang="en-US" sz="2000" dirty="0"/>
          </a:p>
          <a:p>
            <a:r>
              <a:rPr lang="en-US" sz="2000" dirty="0"/>
              <a:t>Statement </a:t>
            </a:r>
            <a:r>
              <a:rPr lang="en-US" sz="2000" dirty="0">
                <a:solidFill>
                  <a:srgbClr val="CA3912"/>
                </a:solidFill>
              </a:rPr>
              <a:t>C</a:t>
            </a:r>
            <a:r>
              <a:rPr lang="en-US" sz="2000" dirty="0"/>
              <a:t> takes time:                         </a:t>
            </a:r>
          </a:p>
          <a:p>
            <a:r>
              <a:rPr lang="en-US" sz="2000" dirty="0"/>
              <a:t>     </a:t>
            </a:r>
            <a:r>
              <a:rPr lang="en-US" sz="2000" dirty="0">
                <a:solidFill>
                  <a:srgbClr val="CA3912"/>
                </a:solidFill>
              </a:rPr>
              <a:t>c</a:t>
            </a:r>
            <a:r>
              <a:rPr lang="en-US" sz="2000" dirty="0"/>
              <a:t> </a:t>
            </a:r>
            <a:r>
              <a:rPr lang="en-US" sz="2000" dirty="0">
                <a:sym typeface="Wingdings" panose="05000000000000000000" pitchFamily="2" charset="2"/>
              </a:rPr>
              <a:t></a:t>
            </a:r>
            <a:r>
              <a:rPr lang="en-US" sz="2000" dirty="0"/>
              <a:t> for the operations(multiplication &amp;  return)</a:t>
            </a:r>
          </a:p>
          <a:p>
            <a:r>
              <a:rPr lang="en-US" sz="2000" dirty="0"/>
              <a:t>     </a:t>
            </a:r>
            <a:r>
              <a:rPr lang="en-US" sz="2000" dirty="0">
                <a:solidFill>
                  <a:srgbClr val="CA3912"/>
                </a:solidFill>
              </a:rPr>
              <a:t>T(n-1)</a:t>
            </a:r>
            <a:r>
              <a:rPr lang="en-US" sz="2000" dirty="0"/>
              <a:t> </a:t>
            </a:r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/>
              <a:t> to determine (n-1)!</a:t>
            </a:r>
          </a:p>
        </p:txBody>
      </p:sp>
    </p:spTree>
    <p:extLst>
      <p:ext uri="{BB962C8B-B14F-4D97-AF65-F5344CB8AC3E}">
        <p14:creationId xmlns:p14="http://schemas.microsoft.com/office/powerpoint/2010/main" val="1909398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7000" y="601249"/>
            <a:ext cx="6858000" cy="801666"/>
          </a:xfrm>
        </p:spPr>
        <p:txBody>
          <a:bodyPr>
            <a:normAutofit/>
          </a:bodyPr>
          <a:lstStyle/>
          <a:p>
            <a:r>
              <a:rPr lang="en-US" sz="3200" dirty="0"/>
              <a:t>Recurrence - Example1 (Contd.)</a:t>
            </a:r>
            <a:endParaRPr lang="en-US" sz="32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0" y="1653436"/>
            <a:ext cx="6858000" cy="4534422"/>
          </a:xfrm>
        </p:spPr>
        <p:txBody>
          <a:bodyPr>
            <a:normAutofit/>
          </a:bodyPr>
          <a:lstStyle/>
          <a:p>
            <a:endParaRPr lang="en-US" sz="2000" dirty="0">
              <a:solidFill>
                <a:srgbClr val="CA3912"/>
              </a:solidFill>
            </a:endParaRPr>
          </a:p>
          <a:p>
            <a:endParaRPr lang="en-US" sz="2000" dirty="0">
              <a:solidFill>
                <a:srgbClr val="CA3912"/>
              </a:solidFill>
            </a:endParaRPr>
          </a:p>
          <a:p>
            <a:pPr algn="l"/>
            <a:r>
              <a:rPr lang="en-US" dirty="0" smtClean="0">
                <a:solidFill>
                  <a:srgbClr val="CA3912"/>
                </a:solidFill>
              </a:rPr>
              <a:t> </a:t>
            </a:r>
          </a:p>
          <a:p>
            <a:pPr algn="l"/>
            <a:r>
              <a:rPr lang="en-US" dirty="0">
                <a:solidFill>
                  <a:srgbClr val="CA3912"/>
                </a:solidFill>
              </a:rPr>
              <a:t> </a:t>
            </a:r>
            <a:r>
              <a:rPr lang="en-US" dirty="0" smtClean="0">
                <a:solidFill>
                  <a:srgbClr val="CA3912"/>
                </a:solidFill>
              </a:rPr>
              <a:t>                   T(n</a:t>
            </a:r>
            <a:r>
              <a:rPr lang="en-US" dirty="0">
                <a:solidFill>
                  <a:srgbClr val="CA3912"/>
                </a:solidFill>
              </a:rPr>
              <a:t>) </a:t>
            </a:r>
            <a:r>
              <a:rPr lang="en-US" dirty="0" smtClean="0">
                <a:solidFill>
                  <a:srgbClr val="CA3912"/>
                </a:solidFill>
              </a:rPr>
              <a:t>   </a:t>
            </a:r>
            <a:r>
              <a:rPr lang="en-US" dirty="0" smtClean="0"/>
              <a:t>=   </a:t>
            </a:r>
            <a:r>
              <a:rPr lang="en-US" dirty="0" smtClean="0">
                <a:solidFill>
                  <a:srgbClr val="CA3912"/>
                </a:solidFill>
              </a:rPr>
              <a:t> a    </a:t>
            </a:r>
            <a:r>
              <a:rPr lang="en-US" dirty="0" smtClean="0"/>
              <a:t>+</a:t>
            </a:r>
            <a:r>
              <a:rPr lang="en-US" dirty="0" smtClean="0">
                <a:solidFill>
                  <a:srgbClr val="CA3912"/>
                </a:solidFill>
              </a:rPr>
              <a:t>     c </a:t>
            </a:r>
            <a:r>
              <a:rPr lang="en-US" dirty="0"/>
              <a:t>+</a:t>
            </a:r>
            <a:r>
              <a:rPr lang="en-US" dirty="0">
                <a:solidFill>
                  <a:srgbClr val="CA3912"/>
                </a:solidFill>
              </a:rPr>
              <a:t> </a:t>
            </a:r>
            <a:r>
              <a:rPr lang="en-US" dirty="0" smtClean="0">
                <a:solidFill>
                  <a:srgbClr val="CA3912"/>
                </a:solidFill>
              </a:rPr>
              <a:t> T(n-1</a:t>
            </a:r>
            <a:r>
              <a:rPr lang="en-US" dirty="0">
                <a:solidFill>
                  <a:srgbClr val="CA3912"/>
                </a:solidFill>
              </a:rPr>
              <a:t>)</a:t>
            </a:r>
          </a:p>
          <a:p>
            <a:endParaRPr 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This method is called iteration method (or repeated substitution)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11DF7-A42A-4107-A9E6-6C3947535C5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4540685" y="1659048"/>
            <a:ext cx="42889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T(n) = Time to execute </a:t>
            </a:r>
            <a:r>
              <a:rPr lang="en-US" dirty="0">
                <a:solidFill>
                  <a:srgbClr val="CA3912"/>
                </a:solidFill>
              </a:rPr>
              <a:t>A</a:t>
            </a:r>
            <a:r>
              <a:rPr lang="en-US" dirty="0"/>
              <a:t> &amp; </a:t>
            </a:r>
            <a:r>
              <a:rPr lang="en-US" dirty="0">
                <a:solidFill>
                  <a:srgbClr val="CA3912"/>
                </a:solidFill>
              </a:rPr>
              <a:t>C</a:t>
            </a:r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 flipH="1">
            <a:off x="5350565" y="2133600"/>
            <a:ext cx="2117035" cy="790244"/>
          </a:xfrm>
          <a:prstGeom prst="line">
            <a:avLst/>
          </a:prstGeom>
          <a:noFill/>
          <a:ln w="3175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" name="AutoShape 6"/>
          <p:cNvSpPr>
            <a:spLocks/>
          </p:cNvSpPr>
          <p:nvPr/>
        </p:nvSpPr>
        <p:spPr bwMode="auto">
          <a:xfrm rot="16182360">
            <a:off x="6747247" y="2178192"/>
            <a:ext cx="252547" cy="1232436"/>
          </a:xfrm>
          <a:prstGeom prst="rightBrace">
            <a:avLst>
              <a:gd name="adj1" fmla="val 74760"/>
              <a:gd name="adj2" fmla="val 5020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 flipH="1">
            <a:off x="6962775" y="2133600"/>
            <a:ext cx="1298139" cy="531376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470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2129117" y="1847850"/>
            <a:ext cx="10515600" cy="4351338"/>
          </a:xfrm>
        </p:spPr>
        <p:txBody>
          <a:bodyPr/>
          <a:lstStyle/>
          <a:p>
            <a:r>
              <a:rPr lang="en-US" sz="2400" dirty="0"/>
              <a:t>Solve the recurrence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400" dirty="0"/>
              <a:t>    </a:t>
            </a:r>
            <a:r>
              <a:rPr lang="en-US" sz="2400" b="1" dirty="0"/>
              <a:t>T(n) = T(n/2) + 2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400" dirty="0"/>
              <a:t>   You are given that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400" dirty="0"/>
              <a:t>    n = 16 and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400" dirty="0"/>
              <a:t>    T(1) = 1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400" dirty="0"/>
              <a:t>      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AlgorithmsSri Lanka Institute of Information Technology.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1EA82-5FC3-44AC-AD46-28813599B777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468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457200"/>
            <a:ext cx="7924800" cy="1143000"/>
          </a:xfrm>
        </p:spPr>
        <p:txBody>
          <a:bodyPr/>
          <a:lstStyle/>
          <a:p>
            <a:r>
              <a:rPr lang="en-US" sz="4000"/>
              <a:t>Finding a solution to a recurrence.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981200"/>
            <a:ext cx="7772400" cy="4114800"/>
          </a:xfrm>
        </p:spPr>
        <p:txBody>
          <a:bodyPr/>
          <a:lstStyle/>
          <a:p>
            <a:r>
              <a:rPr lang="en-US" dirty="0"/>
              <a:t>Other methods</a:t>
            </a:r>
          </a:p>
          <a:p>
            <a:pPr lvl="1"/>
            <a:r>
              <a:rPr lang="en-US" dirty="0" smtClean="0"/>
              <a:t>      Recursion </a:t>
            </a:r>
            <a:r>
              <a:rPr lang="en-US" dirty="0"/>
              <a:t>tree.</a:t>
            </a:r>
          </a:p>
          <a:p>
            <a:pPr lvl="1"/>
            <a:r>
              <a:rPr lang="en-US" dirty="0"/>
              <a:t>      Master Theorem.</a:t>
            </a:r>
          </a:p>
          <a:p>
            <a:pPr lvl="1"/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AlgorithmsSri Lanka Institute of Information Technology.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046C4-D2A9-43D3-A9A6-E29956CE1ADF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131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457200"/>
            <a:ext cx="7793038" cy="1143000"/>
          </a:xfrm>
        </p:spPr>
        <p:txBody>
          <a:bodyPr/>
          <a:lstStyle/>
          <a:p>
            <a:r>
              <a:rPr lang="en-US"/>
              <a:t>The recursion-tree method 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>
          <a:xfrm>
            <a:off x="2133600" y="1981200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Although the substitution method can provide a succinct proof that a solution to a recurrence is correct, it is sometimes difficult to come up with a good guess. Drawing out a recursion </a:t>
            </a:r>
            <a:r>
              <a:rPr lang="en-US" sz="2400" dirty="0" err="1"/>
              <a:t>tree,is</a:t>
            </a:r>
            <a:r>
              <a:rPr lang="en-US" sz="2400" dirty="0"/>
              <a:t> a straightforward way to devise a good guess. In a </a:t>
            </a:r>
            <a:r>
              <a:rPr lang="en-US" sz="2400" b="1" dirty="0"/>
              <a:t>recursion tree</a:t>
            </a:r>
            <a:r>
              <a:rPr lang="en-US" sz="2400" dirty="0"/>
              <a:t>, each node represents the cost of a single </a:t>
            </a:r>
            <a:r>
              <a:rPr lang="en-US" sz="2400" dirty="0" err="1"/>
              <a:t>subproblem</a:t>
            </a:r>
            <a:r>
              <a:rPr lang="en-US" sz="2400" dirty="0"/>
              <a:t> somewhere in the set of recursive function invocations. 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A recursion tree is best used to generate a good guess, which is then verified by the substitution method. 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AlgorithmsSri Lanka Institute of Information Technology.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F4AAB-B38C-41CE-8B9E-75DB6BE8725B}" type="slidenum">
              <a:rPr lang="en-US"/>
              <a:pPr/>
              <a:t>12</a:t>
            </a:fld>
            <a:endParaRPr lang="en-US"/>
          </a:p>
        </p:txBody>
      </p:sp>
      <p:sp>
        <p:nvSpPr>
          <p:cNvPr id="59397" name="AutoShape 5" descr="fig91%5F01%5F0%2Ejpg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399" name="AutoShape 7" descr="fig91%5F01%5F0%2Ejpg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439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Grp="1" noChangeArrowheads="1"/>
          </p:cNvSpPr>
          <p:nvPr>
            <p:ph type="title"/>
          </p:nvPr>
        </p:nvSpPr>
        <p:spPr>
          <a:xfrm>
            <a:off x="1905000" y="609600"/>
            <a:ext cx="7793038" cy="1143000"/>
          </a:xfrm>
        </p:spPr>
        <p:txBody>
          <a:bodyPr/>
          <a:lstStyle/>
          <a:p>
            <a:r>
              <a:rPr lang="en-US" sz="3200"/>
              <a:t>Recursion tree for </a:t>
            </a:r>
            <a:r>
              <a:rPr lang="en-US" sz="3200" i="1"/>
              <a:t>T</a:t>
            </a:r>
            <a:r>
              <a:rPr lang="en-US" sz="3200"/>
              <a:t> (</a:t>
            </a:r>
            <a:r>
              <a:rPr lang="en-US" sz="3200" i="1"/>
              <a:t>n</a:t>
            </a:r>
            <a:r>
              <a:rPr lang="en-US" sz="3200"/>
              <a:t>) = 3</a:t>
            </a:r>
            <a:r>
              <a:rPr lang="en-US" sz="3200" i="1"/>
              <a:t>T</a:t>
            </a:r>
            <a:r>
              <a:rPr lang="en-US" sz="3200"/>
              <a:t> (</a:t>
            </a:r>
            <a:r>
              <a:rPr lang="en-US" sz="3200" i="1"/>
              <a:t>n</a:t>
            </a:r>
            <a:r>
              <a:rPr lang="en-US" sz="3200"/>
              <a:t>/4) + </a:t>
            </a:r>
            <a:r>
              <a:rPr lang="en-US" sz="3200" i="1"/>
              <a:t>cn</a:t>
            </a:r>
            <a:r>
              <a:rPr lang="en-US" sz="3200" baseline="30000"/>
              <a:t>2</a:t>
            </a:r>
            <a:r>
              <a:rPr lang="en-US" sz="4000"/>
              <a:t> </a:t>
            </a:r>
          </a:p>
        </p:txBody>
      </p:sp>
      <p:graphicFrame>
        <p:nvGraphicFramePr>
          <p:cNvPr id="60420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1774825" y="2420938"/>
          <a:ext cx="8640763" cy="316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Bitmap Image" r:id="rId3" imgW="8640381" imgH="3161905" progId="Paint.Picture">
                  <p:embed/>
                </p:oleObj>
              </mc:Choice>
              <mc:Fallback>
                <p:oleObj name="Bitmap Image" r:id="rId3" imgW="8640381" imgH="3161905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5" y="2420938"/>
                        <a:ext cx="8640763" cy="316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AlgorithmsSri Lanka Institute of Information Technology.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888A4-2B93-4239-B7A7-29AE2D1076D2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80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9" name="Rectangle 5"/>
          <p:cNvSpPr>
            <a:spLocks noGrp="1" noChangeArrowheads="1"/>
          </p:cNvSpPr>
          <p:nvPr>
            <p:ph type="title"/>
          </p:nvPr>
        </p:nvSpPr>
        <p:spPr>
          <a:xfrm>
            <a:off x="1905000" y="457200"/>
            <a:ext cx="7793038" cy="1143000"/>
          </a:xfrm>
        </p:spPr>
        <p:txBody>
          <a:bodyPr/>
          <a:lstStyle/>
          <a:p>
            <a:r>
              <a:rPr lang="en-US" sz="3200"/>
              <a:t>Recursion tree for </a:t>
            </a:r>
            <a:r>
              <a:rPr lang="en-US" sz="3200" i="1"/>
              <a:t>T</a:t>
            </a:r>
            <a:r>
              <a:rPr lang="en-US" sz="3200"/>
              <a:t> (</a:t>
            </a:r>
            <a:r>
              <a:rPr lang="en-US" sz="3200" i="1"/>
              <a:t>n</a:t>
            </a:r>
            <a:r>
              <a:rPr lang="en-US" sz="3200"/>
              <a:t>) = 3</a:t>
            </a:r>
            <a:r>
              <a:rPr lang="en-US" sz="3200" i="1"/>
              <a:t>T</a:t>
            </a:r>
            <a:r>
              <a:rPr lang="en-US" sz="3200"/>
              <a:t> (</a:t>
            </a:r>
            <a:r>
              <a:rPr lang="en-US" sz="3200" i="1"/>
              <a:t>n</a:t>
            </a:r>
            <a:r>
              <a:rPr lang="en-US" sz="3200"/>
              <a:t>/4) + </a:t>
            </a:r>
            <a:r>
              <a:rPr lang="en-US" sz="3200" i="1"/>
              <a:t>cn</a:t>
            </a:r>
            <a:r>
              <a:rPr lang="en-US" sz="3200" baseline="30000"/>
              <a:t>2</a:t>
            </a:r>
          </a:p>
        </p:txBody>
      </p:sp>
      <p:graphicFrame>
        <p:nvGraphicFramePr>
          <p:cNvPr id="62468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2514600" y="1981200"/>
          <a:ext cx="6770688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Bitmap Image" r:id="rId3" imgW="8666667" imgH="5266667" progId="Paint.Picture">
                  <p:embed/>
                </p:oleObj>
              </mc:Choice>
              <mc:Fallback>
                <p:oleObj name="Bitmap Image" r:id="rId3" imgW="8666667" imgH="5266667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981200"/>
                        <a:ext cx="6770688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AlgorithmsSri Lanka Institute of Information Technology.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7374C-7052-4F42-8E44-CEA606AA4EF7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308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33400"/>
            <a:ext cx="7793038" cy="1143000"/>
          </a:xfrm>
        </p:spPr>
        <p:txBody>
          <a:bodyPr/>
          <a:lstStyle/>
          <a:p>
            <a:r>
              <a:rPr lang="en-US"/>
              <a:t>The Master Method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981200"/>
            <a:ext cx="83058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/>
              <a:t>The Master method applies to recurrences of the form</a:t>
            </a:r>
          </a:p>
          <a:p>
            <a:pPr>
              <a:lnSpc>
                <a:spcPct val="90000"/>
              </a:lnSpc>
            </a:pPr>
            <a:endParaRPr lang="en-US" sz="24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400"/>
              <a:t>           </a:t>
            </a:r>
            <a:r>
              <a:rPr lang="en-US" sz="2400">
                <a:solidFill>
                  <a:srgbClr val="0B1196"/>
                </a:solidFill>
              </a:rPr>
              <a:t>T(n) = a T(n/b) + f(n)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2400">
              <a:solidFill>
                <a:srgbClr val="0B1196"/>
              </a:solidFill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000"/>
              <a:t>    	where </a:t>
            </a:r>
            <a:r>
              <a:rPr lang="en-US" sz="2000">
                <a:solidFill>
                  <a:srgbClr val="0B1196"/>
                </a:solidFill>
              </a:rPr>
              <a:t>a ≥ 1</a:t>
            </a:r>
            <a:r>
              <a:rPr lang="en-US" sz="2000"/>
              <a:t> and </a:t>
            </a:r>
            <a:r>
              <a:rPr lang="en-US" sz="2000">
                <a:solidFill>
                  <a:srgbClr val="0B1196"/>
                </a:solidFill>
              </a:rPr>
              <a:t>b &gt; 1</a:t>
            </a:r>
            <a:r>
              <a:rPr lang="en-US" sz="2000"/>
              <a:t>, and </a:t>
            </a:r>
            <a:r>
              <a:rPr lang="en-US" sz="2000">
                <a:solidFill>
                  <a:srgbClr val="0B1196"/>
                </a:solidFill>
              </a:rPr>
              <a:t>f(n)</a:t>
            </a:r>
            <a:r>
              <a:rPr lang="en-US" sz="2000"/>
              <a:t> is an asymptotically positive function.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000"/>
              <a:t>	The recurrence describes the running time of an algorithm that divides a problem of size n into a subproblems, each of size n/b, where a and b are positive constants. The a subproblems are solved recursively, each in time T (n/b). The cost of dividing the problem and combining the results of the subproblems is described by the function f (n). </a:t>
            </a:r>
            <a:endParaRPr lang="en-US" sz="2000">
              <a:solidFill>
                <a:srgbClr val="0B1196"/>
              </a:solidFill>
            </a:endParaRPr>
          </a:p>
          <a:p>
            <a:pPr lvl="1">
              <a:lnSpc>
                <a:spcPct val="90000"/>
              </a:lnSpc>
            </a:pPr>
            <a:endParaRPr lang="en-US" sz="200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AlgorithmsSri Lanka Institute of Information Technology.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B5A36-4AE9-42A1-AEF9-7C3694159C20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704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7793038" cy="1143000"/>
          </a:xfrm>
        </p:spPr>
        <p:txBody>
          <a:bodyPr/>
          <a:lstStyle/>
          <a:p>
            <a:r>
              <a:rPr lang="en-US"/>
              <a:t>The master theorem 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>
          <a:xfrm>
            <a:off x="2286000" y="1905000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/>
              <a:t>The master method depends on the following theorem.</a:t>
            </a:r>
          </a:p>
          <a:p>
            <a:pPr>
              <a:lnSpc>
                <a:spcPct val="90000"/>
              </a:lnSpc>
            </a:pPr>
            <a:r>
              <a:rPr lang="en-US" sz="2400"/>
              <a:t>Let </a:t>
            </a:r>
            <a:r>
              <a:rPr lang="en-US" sz="2400" i="1"/>
              <a:t>a</a:t>
            </a:r>
            <a:r>
              <a:rPr lang="en-US" sz="2400"/>
              <a:t> ≥ 1 and </a:t>
            </a:r>
            <a:r>
              <a:rPr lang="en-US" sz="2400" i="1"/>
              <a:t>b</a:t>
            </a:r>
            <a:r>
              <a:rPr lang="en-US" sz="2400"/>
              <a:t> &gt; 1 be constants, let </a:t>
            </a:r>
            <a:r>
              <a:rPr lang="en-US" sz="2400" i="1"/>
              <a:t>f</a:t>
            </a:r>
            <a:r>
              <a:rPr lang="en-US" sz="2400"/>
              <a:t> (</a:t>
            </a:r>
            <a:r>
              <a:rPr lang="en-US" sz="2400" i="1"/>
              <a:t>n</a:t>
            </a:r>
            <a:r>
              <a:rPr lang="en-US" sz="2400"/>
              <a:t>) be a function, and let </a:t>
            </a:r>
            <a:r>
              <a:rPr lang="en-US" sz="2400" i="1"/>
              <a:t>T</a:t>
            </a:r>
            <a:r>
              <a:rPr lang="en-US" sz="2400"/>
              <a:t> (</a:t>
            </a:r>
            <a:r>
              <a:rPr lang="en-US" sz="2400" i="1"/>
              <a:t>n</a:t>
            </a:r>
            <a:r>
              <a:rPr lang="en-US" sz="2400"/>
              <a:t>) be defined on the nonnegative integers by the recurrence</a:t>
            </a:r>
            <a:endParaRPr lang="en-US" sz="2400" i="1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400" i="1"/>
              <a:t>		T</a:t>
            </a:r>
            <a:r>
              <a:rPr lang="en-US" sz="2400"/>
              <a:t>(</a:t>
            </a:r>
            <a:r>
              <a:rPr lang="en-US" sz="2400" i="1"/>
              <a:t>n</a:t>
            </a:r>
            <a:r>
              <a:rPr lang="en-US" sz="2400"/>
              <a:t>) = </a:t>
            </a:r>
            <a:r>
              <a:rPr lang="en-US" sz="2400" i="1"/>
              <a:t>aT</a:t>
            </a:r>
            <a:r>
              <a:rPr lang="en-US" sz="2400"/>
              <a:t>(</a:t>
            </a:r>
            <a:r>
              <a:rPr lang="en-US" sz="2400" i="1"/>
              <a:t>n</a:t>
            </a:r>
            <a:r>
              <a:rPr lang="en-US" sz="2400"/>
              <a:t>/</a:t>
            </a:r>
            <a:r>
              <a:rPr lang="en-US" sz="2400" i="1"/>
              <a:t>b</a:t>
            </a:r>
            <a:r>
              <a:rPr lang="en-US" sz="2400"/>
              <a:t>) + </a:t>
            </a:r>
            <a:r>
              <a:rPr lang="en-US" sz="2400" i="1"/>
              <a:t>f</a:t>
            </a:r>
            <a:r>
              <a:rPr lang="en-US" sz="2400"/>
              <a:t>(</a:t>
            </a:r>
            <a:r>
              <a:rPr lang="en-US" sz="2400" i="1"/>
              <a:t>n</a:t>
            </a:r>
            <a:r>
              <a:rPr lang="en-US" sz="2400"/>
              <a:t>),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400"/>
              <a:t>	where we interpret </a:t>
            </a:r>
            <a:r>
              <a:rPr lang="en-US" sz="2400" i="1"/>
              <a:t>n</a:t>
            </a:r>
            <a:r>
              <a:rPr lang="en-US" sz="2400"/>
              <a:t>/</a:t>
            </a:r>
            <a:r>
              <a:rPr lang="en-US" sz="2400" i="1"/>
              <a:t>b</a:t>
            </a:r>
            <a:r>
              <a:rPr lang="en-US" sz="2400"/>
              <a:t> to mean either ⌊</a:t>
            </a:r>
            <a:r>
              <a:rPr lang="en-US" sz="2400" i="1"/>
              <a:t>n</a:t>
            </a:r>
            <a:r>
              <a:rPr lang="en-US" sz="2400"/>
              <a:t>/</a:t>
            </a:r>
            <a:r>
              <a:rPr lang="en-US" sz="2400" i="1"/>
              <a:t>b</a:t>
            </a:r>
            <a:r>
              <a:rPr lang="en-US" sz="2400"/>
              <a:t>⌋ or ⌈</a:t>
            </a:r>
            <a:r>
              <a:rPr lang="en-US" sz="2400" i="1"/>
              <a:t>n</a:t>
            </a:r>
            <a:r>
              <a:rPr lang="en-US" sz="2400"/>
              <a:t>/</a:t>
            </a:r>
            <a:r>
              <a:rPr lang="en-US" sz="2400" i="1"/>
              <a:t>b</a:t>
            </a:r>
            <a:r>
              <a:rPr lang="en-US" sz="2400"/>
              <a:t>⌉. Then </a:t>
            </a:r>
            <a:r>
              <a:rPr lang="en-US" sz="2400" i="1"/>
              <a:t>T</a:t>
            </a:r>
            <a:r>
              <a:rPr lang="en-US" sz="2400"/>
              <a:t> (</a:t>
            </a:r>
            <a:r>
              <a:rPr lang="en-US" sz="2400" i="1"/>
              <a:t>n</a:t>
            </a:r>
            <a:r>
              <a:rPr lang="en-US" sz="2400"/>
              <a:t>) can be bounded asymptotically as follows.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AlgorithmsSri Lanka Institute of Information Technology.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67A1D-6FF6-4D3C-B4AB-43EA980564C8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44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5" name="Rectangle 5"/>
          <p:cNvSpPr>
            <a:spLocks noGrp="1" noChangeArrowheads="1"/>
          </p:cNvSpPr>
          <p:nvPr>
            <p:ph type="title"/>
          </p:nvPr>
        </p:nvSpPr>
        <p:spPr>
          <a:xfrm>
            <a:off x="1752600" y="0"/>
            <a:ext cx="7793038" cy="1143000"/>
          </a:xfrm>
        </p:spPr>
        <p:txBody>
          <a:bodyPr/>
          <a:lstStyle/>
          <a:p>
            <a:r>
              <a:rPr lang="en-US"/>
              <a:t>The master theorem</a:t>
            </a:r>
          </a:p>
        </p:txBody>
      </p:sp>
      <p:graphicFrame>
        <p:nvGraphicFramePr>
          <p:cNvPr id="66568" name="Object 8"/>
          <p:cNvGraphicFramePr>
            <a:graphicFrameLocks noGrp="1" noChangeAspect="1"/>
          </p:cNvGraphicFramePr>
          <p:nvPr>
            <p:ph idx="1"/>
          </p:nvPr>
        </p:nvGraphicFramePr>
        <p:xfrm>
          <a:off x="2209800" y="1677988"/>
          <a:ext cx="8001000" cy="449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Bitmap Image" r:id="rId3" imgW="7400000" imgH="4153480" progId="Paint.Picture">
                  <p:embed/>
                </p:oleObj>
              </mc:Choice>
              <mc:Fallback>
                <p:oleObj name="Bitmap Image" r:id="rId3" imgW="7400000" imgH="4153480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677988"/>
                        <a:ext cx="8001000" cy="449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AlgorithmsSri Lanka Institute of Information Technology.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44943-C550-430D-8B75-B02BFC842E41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543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4" name="Rectangle 6"/>
          <p:cNvSpPr>
            <a:spLocks noGrp="1" noChangeArrowheads="1"/>
          </p:cNvSpPr>
          <p:nvPr>
            <p:ph type="title"/>
          </p:nvPr>
        </p:nvSpPr>
        <p:spPr>
          <a:xfrm>
            <a:off x="1905000" y="457200"/>
            <a:ext cx="7793038" cy="1143000"/>
          </a:xfrm>
        </p:spPr>
        <p:txBody>
          <a:bodyPr/>
          <a:lstStyle/>
          <a:p>
            <a:r>
              <a:rPr lang="en-US"/>
              <a:t>The master theorem</a:t>
            </a:r>
          </a:p>
        </p:txBody>
      </p:sp>
      <p:graphicFrame>
        <p:nvGraphicFramePr>
          <p:cNvPr id="68613" name="Object 5"/>
          <p:cNvGraphicFramePr>
            <a:graphicFrameLocks noGrp="1" noChangeAspect="1"/>
          </p:cNvGraphicFramePr>
          <p:nvPr>
            <p:ph idx="1"/>
          </p:nvPr>
        </p:nvGraphicFramePr>
        <p:xfrm>
          <a:off x="2792413" y="1524000"/>
          <a:ext cx="6683375" cy="487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Equation" r:id="rId3" imgW="3759120" imgH="2743200" progId="Equation.3">
                  <p:embed/>
                </p:oleObj>
              </mc:Choice>
              <mc:Fallback>
                <p:oleObj name="Equation" r:id="rId3" imgW="3759120" imgH="274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2413" y="1524000"/>
                        <a:ext cx="6683375" cy="487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AlgorithmsSri Lanka Institute of Information Technology.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BA33A-3EDF-42AE-ACDC-F2646FB5F6C5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343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Rectangle 4"/>
          <p:cNvSpPr>
            <a:spLocks noGrp="1" noChangeArrowheads="1"/>
          </p:cNvSpPr>
          <p:nvPr>
            <p:ph type="title"/>
          </p:nvPr>
        </p:nvSpPr>
        <p:spPr>
          <a:xfrm>
            <a:off x="1752600" y="526860"/>
            <a:ext cx="8610600" cy="590931"/>
          </a:xfrm>
          <a:noFill/>
          <a:ln/>
        </p:spPr>
        <p:txBody>
          <a:bodyPr>
            <a:spAutoFit/>
          </a:bodyPr>
          <a:lstStyle/>
          <a:p>
            <a:r>
              <a:rPr lang="en-AU" sz="3600" b="1"/>
              <a:t>Master Theorem – Case 1 example</a:t>
            </a:r>
          </a:p>
        </p:txBody>
      </p:sp>
      <p:sp>
        <p:nvSpPr>
          <p:cNvPr id="70661" name="Rectangle 5"/>
          <p:cNvSpPr>
            <a:spLocks noGrp="1" noChangeArrowheads="1"/>
          </p:cNvSpPr>
          <p:nvPr>
            <p:ph idx="1"/>
          </p:nvPr>
        </p:nvSpPr>
        <p:spPr>
          <a:xfrm>
            <a:off x="1752600" y="1524000"/>
            <a:ext cx="4229100" cy="4572000"/>
          </a:xfrm>
          <a:noFill/>
          <a:ln/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AU"/>
              <a:t> 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AlgorithmsSri Lanka Institute of Information Technology.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DAB00-502B-4FE9-8493-66BB1E7A76C6}" type="slidenum">
              <a:rPr lang="en-US"/>
              <a:pPr/>
              <a:t>19</a:t>
            </a:fld>
            <a:endParaRPr lang="en-US"/>
          </a:p>
        </p:txBody>
      </p:sp>
      <p:graphicFrame>
        <p:nvGraphicFramePr>
          <p:cNvPr id="70662" name="Object 6"/>
          <p:cNvGraphicFramePr>
            <a:graphicFrameLocks noChangeAspect="1"/>
          </p:cNvGraphicFramePr>
          <p:nvPr/>
        </p:nvGraphicFramePr>
        <p:xfrm>
          <a:off x="2279650" y="3644901"/>
          <a:ext cx="4033838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6" name="Equation" r:id="rId3" imgW="1028520" imgH="203040" progId="Equation.3">
                  <p:embed/>
                </p:oleObj>
              </mc:Choice>
              <mc:Fallback>
                <p:oleObj name="Equation" r:id="rId3" imgW="102852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3644901"/>
                        <a:ext cx="4033838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3" name="Rectangle 7"/>
          <p:cNvSpPr>
            <a:spLocks noChangeArrowheads="1"/>
          </p:cNvSpPr>
          <p:nvPr/>
        </p:nvSpPr>
        <p:spPr bwMode="auto">
          <a:xfrm>
            <a:off x="2208214" y="1684339"/>
            <a:ext cx="8015287" cy="197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>
                <a:latin typeface="Times New Roman" panose="02020603050405020304" pitchFamily="18" charset="0"/>
              </a:rPr>
              <a:t>Give tight asymptotic bound for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i="1">
                <a:latin typeface="Times New Roman" panose="02020603050405020304" pitchFamily="18" charset="0"/>
              </a:rPr>
              <a:t>T</a:t>
            </a:r>
            <a:r>
              <a:rPr lang="en-AU">
                <a:latin typeface="Times New Roman" panose="02020603050405020304" pitchFamily="18" charset="0"/>
              </a:rPr>
              <a:t>(</a:t>
            </a:r>
            <a:r>
              <a:rPr lang="en-AU" i="1">
                <a:latin typeface="Times New Roman" panose="02020603050405020304" pitchFamily="18" charset="0"/>
              </a:rPr>
              <a:t>n</a:t>
            </a:r>
            <a:r>
              <a:rPr lang="en-AU">
                <a:latin typeface="Times New Roman" panose="02020603050405020304" pitchFamily="18" charset="0"/>
              </a:rPr>
              <a:t>) = </a:t>
            </a:r>
            <a:r>
              <a:rPr lang="en-AU" i="1">
                <a:latin typeface="Times New Roman" panose="02020603050405020304" pitchFamily="18" charset="0"/>
              </a:rPr>
              <a:t>9T</a:t>
            </a:r>
            <a:r>
              <a:rPr lang="en-AU">
                <a:latin typeface="Times New Roman" panose="02020603050405020304" pitchFamily="18" charset="0"/>
              </a:rPr>
              <a:t>(</a:t>
            </a:r>
            <a:r>
              <a:rPr lang="en-AU" i="1">
                <a:latin typeface="Times New Roman" panose="02020603050405020304" pitchFamily="18" charset="0"/>
              </a:rPr>
              <a:t>n</a:t>
            </a:r>
            <a:r>
              <a:rPr lang="en-AU">
                <a:latin typeface="Times New Roman" panose="02020603050405020304" pitchFamily="18" charset="0"/>
              </a:rPr>
              <a:t>/3) + </a:t>
            </a:r>
            <a:r>
              <a:rPr lang="en-AU" i="1">
                <a:latin typeface="Times New Roman" panose="02020603050405020304" pitchFamily="18" charset="0"/>
              </a:rPr>
              <a:t>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b="1" u="sng">
                <a:latin typeface="Times New Roman" panose="02020603050405020304" pitchFamily="18" charset="0"/>
              </a:rPr>
              <a:t>Solution: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i="1">
                <a:latin typeface="Times New Roman" panose="02020603050405020304" pitchFamily="18" charset="0"/>
              </a:rPr>
              <a:t>a</a:t>
            </a:r>
            <a:r>
              <a:rPr lang="en-AU">
                <a:latin typeface="Times New Roman" panose="02020603050405020304" pitchFamily="18" charset="0"/>
              </a:rPr>
              <a:t>=9, </a:t>
            </a:r>
            <a:r>
              <a:rPr lang="en-AU" i="1">
                <a:latin typeface="Times New Roman" panose="02020603050405020304" pitchFamily="18" charset="0"/>
              </a:rPr>
              <a:t>b</a:t>
            </a:r>
            <a:r>
              <a:rPr lang="en-AU">
                <a:latin typeface="Times New Roman" panose="02020603050405020304" pitchFamily="18" charset="0"/>
              </a:rPr>
              <a:t>=3, and </a:t>
            </a:r>
            <a:r>
              <a:rPr lang="en-AU" i="1">
                <a:latin typeface="Times New Roman" panose="02020603050405020304" pitchFamily="18" charset="0"/>
              </a:rPr>
              <a:t>f</a:t>
            </a:r>
            <a:r>
              <a:rPr lang="en-AU">
                <a:latin typeface="Times New Roman" panose="02020603050405020304" pitchFamily="18" charset="0"/>
              </a:rPr>
              <a:t>(</a:t>
            </a:r>
            <a:r>
              <a:rPr lang="en-AU" i="1">
                <a:latin typeface="Times New Roman" panose="02020603050405020304" pitchFamily="18" charset="0"/>
              </a:rPr>
              <a:t>n</a:t>
            </a:r>
            <a:r>
              <a:rPr lang="en-AU">
                <a:latin typeface="Times New Roman" panose="02020603050405020304" pitchFamily="18" charset="0"/>
              </a:rPr>
              <a:t>) = </a:t>
            </a:r>
            <a:r>
              <a:rPr lang="en-AU" i="1">
                <a:latin typeface="Times New Roman" panose="02020603050405020304" pitchFamily="18" charset="0"/>
              </a:rPr>
              <a:t>n</a:t>
            </a:r>
            <a:r>
              <a:rPr lang="en-AU">
                <a:latin typeface="Times New Roman" panose="02020603050405020304" pitchFamily="18" charset="0"/>
              </a:rPr>
              <a:t>. </a:t>
            </a:r>
          </a:p>
        </p:txBody>
      </p:sp>
      <p:graphicFrame>
        <p:nvGraphicFramePr>
          <p:cNvPr id="70664" name="Object 8"/>
          <p:cNvGraphicFramePr>
            <a:graphicFrameLocks noChangeAspect="1"/>
          </p:cNvGraphicFramePr>
          <p:nvPr/>
        </p:nvGraphicFramePr>
        <p:xfrm>
          <a:off x="2279651" y="4543426"/>
          <a:ext cx="7777163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7" name="Equation" r:id="rId5" imgW="2730240" imgH="228600" progId="Equation.3">
                  <p:embed/>
                </p:oleObj>
              </mc:Choice>
              <mc:Fallback>
                <p:oleObj name="Equation" r:id="rId5" imgW="27302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1" y="4543426"/>
                        <a:ext cx="7777163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5" name="Object 9"/>
          <p:cNvGraphicFramePr>
            <a:graphicFrameLocks noChangeAspect="1"/>
          </p:cNvGraphicFramePr>
          <p:nvPr/>
        </p:nvGraphicFramePr>
        <p:xfrm>
          <a:off x="3727450" y="5532438"/>
          <a:ext cx="2286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8" name="Equation" r:id="rId7" imgW="863280" imgH="215640" progId="Equation.3">
                  <p:embed/>
                </p:oleObj>
              </mc:Choice>
              <mc:Fallback>
                <p:oleObj name="Equation" r:id="rId7" imgW="8632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7450" y="5532438"/>
                        <a:ext cx="22860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0428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4" name="Rectangle 4"/>
          <p:cNvSpPr>
            <a:spLocks noGrp="1" noChangeArrowheads="1"/>
          </p:cNvSpPr>
          <p:nvPr>
            <p:ph type="title"/>
          </p:nvPr>
        </p:nvSpPr>
        <p:spPr>
          <a:xfrm>
            <a:off x="1752600" y="411135"/>
            <a:ext cx="8610600" cy="701731"/>
          </a:xfrm>
          <a:noFill/>
          <a:ln/>
        </p:spPr>
        <p:txBody>
          <a:bodyPr>
            <a:spAutoFit/>
          </a:bodyPr>
          <a:lstStyle/>
          <a:p>
            <a:r>
              <a:rPr lang="en-AU" sz="3600" b="1"/>
              <a:t>Master Theorem – Case 2 example</a:t>
            </a:r>
            <a:r>
              <a:rPr lang="en-AU"/>
              <a:t> 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AlgorithmsSri Lanka Institute of Information Technology.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54A53-E64B-4AC6-958E-9213C0FB5685}" type="slidenum">
              <a:rPr lang="en-US"/>
              <a:pPr/>
              <a:t>20</a:t>
            </a:fld>
            <a:endParaRPr lang="en-US"/>
          </a:p>
        </p:txBody>
      </p:sp>
      <p:graphicFrame>
        <p:nvGraphicFramePr>
          <p:cNvPr id="71685" name="Object 5"/>
          <p:cNvGraphicFramePr>
            <a:graphicFrameLocks noChangeAspect="1"/>
          </p:cNvGraphicFramePr>
          <p:nvPr/>
        </p:nvGraphicFramePr>
        <p:xfrm>
          <a:off x="2208214" y="3716338"/>
          <a:ext cx="4554537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" name="Equation" r:id="rId3" imgW="1269720" imgH="203040" progId="Equation.3">
                  <p:embed/>
                </p:oleObj>
              </mc:Choice>
              <mc:Fallback>
                <p:oleObj name="Equation" r:id="rId3" imgW="126972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3716338"/>
                        <a:ext cx="4554537" cy="728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6" name="Rectangle 6"/>
          <p:cNvSpPr>
            <a:spLocks noChangeArrowheads="1"/>
          </p:cNvSpPr>
          <p:nvPr/>
        </p:nvSpPr>
        <p:spPr bwMode="auto">
          <a:xfrm>
            <a:off x="2208214" y="1684339"/>
            <a:ext cx="8015287" cy="197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>
                <a:latin typeface="Times New Roman" panose="02020603050405020304" pitchFamily="18" charset="0"/>
              </a:rPr>
              <a:t>Give tight asymptotic bound for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i="1">
                <a:latin typeface="Times New Roman" panose="02020603050405020304" pitchFamily="18" charset="0"/>
              </a:rPr>
              <a:t>T</a:t>
            </a:r>
            <a:r>
              <a:rPr lang="en-AU">
                <a:latin typeface="Times New Roman" panose="02020603050405020304" pitchFamily="18" charset="0"/>
              </a:rPr>
              <a:t>(</a:t>
            </a:r>
            <a:r>
              <a:rPr lang="en-AU" i="1">
                <a:latin typeface="Times New Roman" panose="02020603050405020304" pitchFamily="18" charset="0"/>
              </a:rPr>
              <a:t>n</a:t>
            </a:r>
            <a:r>
              <a:rPr lang="en-AU">
                <a:latin typeface="Times New Roman" panose="02020603050405020304" pitchFamily="18" charset="0"/>
              </a:rPr>
              <a:t>) = </a:t>
            </a:r>
            <a:r>
              <a:rPr lang="en-AU" i="1">
                <a:latin typeface="Times New Roman" panose="02020603050405020304" pitchFamily="18" charset="0"/>
              </a:rPr>
              <a:t>T</a:t>
            </a:r>
            <a:r>
              <a:rPr lang="en-AU">
                <a:latin typeface="Times New Roman" panose="02020603050405020304" pitchFamily="18" charset="0"/>
              </a:rPr>
              <a:t>(2</a:t>
            </a:r>
            <a:r>
              <a:rPr lang="en-AU" i="1">
                <a:latin typeface="Times New Roman" panose="02020603050405020304" pitchFamily="18" charset="0"/>
              </a:rPr>
              <a:t>n</a:t>
            </a:r>
            <a:r>
              <a:rPr lang="en-AU">
                <a:latin typeface="Times New Roman" panose="02020603050405020304" pitchFamily="18" charset="0"/>
              </a:rPr>
              <a:t>/3) + 1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b="1" u="sng">
                <a:latin typeface="Times New Roman" panose="02020603050405020304" pitchFamily="18" charset="0"/>
              </a:rPr>
              <a:t>Solution: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i="1">
                <a:latin typeface="Times New Roman" panose="02020603050405020304" pitchFamily="18" charset="0"/>
              </a:rPr>
              <a:t>a</a:t>
            </a:r>
            <a:r>
              <a:rPr lang="en-AU">
                <a:latin typeface="Times New Roman" panose="02020603050405020304" pitchFamily="18" charset="0"/>
              </a:rPr>
              <a:t>=1, </a:t>
            </a:r>
            <a:r>
              <a:rPr lang="en-AU" i="1">
                <a:latin typeface="Times New Roman" panose="02020603050405020304" pitchFamily="18" charset="0"/>
              </a:rPr>
              <a:t>b</a:t>
            </a:r>
            <a:r>
              <a:rPr lang="en-AU">
                <a:latin typeface="Times New Roman" panose="02020603050405020304" pitchFamily="18" charset="0"/>
              </a:rPr>
              <a:t>=3/2, and </a:t>
            </a:r>
            <a:r>
              <a:rPr lang="en-AU" i="1">
                <a:latin typeface="Times New Roman" panose="02020603050405020304" pitchFamily="18" charset="0"/>
              </a:rPr>
              <a:t>f</a:t>
            </a:r>
            <a:r>
              <a:rPr lang="en-AU">
                <a:latin typeface="Times New Roman" panose="02020603050405020304" pitchFamily="18" charset="0"/>
              </a:rPr>
              <a:t>(</a:t>
            </a:r>
            <a:r>
              <a:rPr lang="en-AU" i="1">
                <a:latin typeface="Times New Roman" panose="02020603050405020304" pitchFamily="18" charset="0"/>
              </a:rPr>
              <a:t>n</a:t>
            </a:r>
            <a:r>
              <a:rPr lang="en-AU">
                <a:latin typeface="Times New Roman" panose="02020603050405020304" pitchFamily="18" charset="0"/>
              </a:rPr>
              <a:t>) = 1. </a:t>
            </a:r>
          </a:p>
        </p:txBody>
      </p:sp>
      <p:graphicFrame>
        <p:nvGraphicFramePr>
          <p:cNvPr id="71687" name="Object 7"/>
          <p:cNvGraphicFramePr>
            <a:graphicFrameLocks noChangeAspect="1"/>
          </p:cNvGraphicFramePr>
          <p:nvPr/>
        </p:nvGraphicFramePr>
        <p:xfrm>
          <a:off x="2208214" y="4581526"/>
          <a:ext cx="6696075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1" name="Equation" r:id="rId5" imgW="2222280" imgH="228600" progId="Equation.3">
                  <p:embed/>
                </p:oleObj>
              </mc:Choice>
              <mc:Fallback>
                <p:oleObj name="Equation" r:id="rId5" imgW="22222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4581526"/>
                        <a:ext cx="6696075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8" name="Object 8"/>
          <p:cNvGraphicFramePr>
            <a:graphicFrameLocks noChangeAspect="1"/>
          </p:cNvGraphicFramePr>
          <p:nvPr/>
        </p:nvGraphicFramePr>
        <p:xfrm>
          <a:off x="2208214" y="5516563"/>
          <a:ext cx="3311525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2" name="Equation" r:id="rId7" imgW="977760" imgH="190440" progId="Equation.3">
                  <p:embed/>
                </p:oleObj>
              </mc:Choice>
              <mc:Fallback>
                <p:oleObj name="Equation" r:id="rId7" imgW="97776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5516563"/>
                        <a:ext cx="3311525" cy="64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348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8" name="Rectangle 4"/>
          <p:cNvSpPr>
            <a:spLocks noGrp="1" noChangeArrowheads="1"/>
          </p:cNvSpPr>
          <p:nvPr>
            <p:ph type="title"/>
          </p:nvPr>
        </p:nvSpPr>
        <p:spPr>
          <a:xfrm>
            <a:off x="1752600" y="526860"/>
            <a:ext cx="8610600" cy="590931"/>
          </a:xfrm>
          <a:noFill/>
          <a:ln/>
        </p:spPr>
        <p:txBody>
          <a:bodyPr>
            <a:spAutoFit/>
          </a:bodyPr>
          <a:lstStyle/>
          <a:p>
            <a:r>
              <a:rPr lang="en-AU" sz="3600" b="1"/>
              <a:t>Master Theorem – Case 3 example</a:t>
            </a:r>
          </a:p>
        </p:txBody>
      </p:sp>
      <p:sp>
        <p:nvSpPr>
          <p:cNvPr id="72709" name="Rectangle 5"/>
          <p:cNvSpPr>
            <a:spLocks noGrp="1" noChangeArrowheads="1"/>
          </p:cNvSpPr>
          <p:nvPr>
            <p:ph idx="1"/>
          </p:nvPr>
        </p:nvSpPr>
        <p:spPr>
          <a:xfrm>
            <a:off x="2209800" y="1676400"/>
            <a:ext cx="8015288" cy="1976438"/>
          </a:xfrm>
          <a:noFill/>
          <a:ln/>
        </p:spPr>
        <p:txBody>
          <a:bodyPr>
            <a:normAutofit lnSpcReduction="10000"/>
          </a:bodyPr>
          <a:lstStyle/>
          <a:p>
            <a:r>
              <a:rPr lang="en-AU"/>
              <a:t>Give tight asymptotic bound for</a:t>
            </a:r>
          </a:p>
          <a:p>
            <a:r>
              <a:rPr lang="en-AU" i="1"/>
              <a:t>T</a:t>
            </a:r>
            <a:r>
              <a:rPr lang="en-AU"/>
              <a:t>(</a:t>
            </a:r>
            <a:r>
              <a:rPr lang="en-AU" i="1"/>
              <a:t>n</a:t>
            </a:r>
            <a:r>
              <a:rPr lang="en-AU"/>
              <a:t>) = </a:t>
            </a:r>
            <a:r>
              <a:rPr lang="en-AU" i="1"/>
              <a:t>3T</a:t>
            </a:r>
            <a:r>
              <a:rPr lang="en-AU"/>
              <a:t>(</a:t>
            </a:r>
            <a:r>
              <a:rPr lang="en-AU" i="1"/>
              <a:t>n</a:t>
            </a:r>
            <a:r>
              <a:rPr lang="en-AU"/>
              <a:t>/4) + </a:t>
            </a:r>
            <a:r>
              <a:rPr lang="en-AU" i="1"/>
              <a:t>n </a:t>
            </a:r>
            <a:r>
              <a:rPr lang="en-AU"/>
              <a:t>log </a:t>
            </a:r>
            <a:r>
              <a:rPr lang="en-AU" i="1"/>
              <a:t>n</a:t>
            </a:r>
          </a:p>
          <a:p>
            <a:r>
              <a:rPr lang="en-AU" b="1" u="sng"/>
              <a:t>Solution:</a:t>
            </a:r>
          </a:p>
          <a:p>
            <a:r>
              <a:rPr lang="en-AU" i="1"/>
              <a:t>a</a:t>
            </a:r>
            <a:r>
              <a:rPr lang="en-AU"/>
              <a:t>=3, </a:t>
            </a:r>
            <a:r>
              <a:rPr lang="en-AU" i="1"/>
              <a:t>b</a:t>
            </a:r>
            <a:r>
              <a:rPr lang="en-AU"/>
              <a:t>=4, and </a:t>
            </a:r>
            <a:r>
              <a:rPr lang="en-AU" i="1"/>
              <a:t>f</a:t>
            </a:r>
            <a:r>
              <a:rPr lang="en-AU"/>
              <a:t>(</a:t>
            </a:r>
            <a:r>
              <a:rPr lang="en-AU" i="1"/>
              <a:t>n</a:t>
            </a:r>
            <a:r>
              <a:rPr lang="en-AU"/>
              <a:t>) = </a:t>
            </a:r>
            <a:r>
              <a:rPr lang="en-AU" i="1"/>
              <a:t>n </a:t>
            </a:r>
            <a:r>
              <a:rPr lang="en-AU"/>
              <a:t>log </a:t>
            </a:r>
            <a:r>
              <a:rPr lang="en-AU" i="1"/>
              <a:t>n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AlgorithmsSri Lanka Institute of Information Technology.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50D30-BA8C-40A4-A6D4-3EDF4FDB17E3}" type="slidenum">
              <a:rPr lang="en-US"/>
              <a:pPr/>
              <a:t>21</a:t>
            </a:fld>
            <a:endParaRPr lang="en-US"/>
          </a:p>
        </p:txBody>
      </p:sp>
      <p:graphicFrame>
        <p:nvGraphicFramePr>
          <p:cNvPr id="72710" name="Object 6"/>
          <p:cNvGraphicFramePr>
            <a:graphicFrameLocks noChangeAspect="1"/>
          </p:cNvGraphicFramePr>
          <p:nvPr/>
        </p:nvGraphicFramePr>
        <p:xfrm>
          <a:off x="2286001" y="3733800"/>
          <a:ext cx="387667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4" name="Equation" r:id="rId3" imgW="1371600" imgH="228600" progId="Equation.3">
                  <p:embed/>
                </p:oleObj>
              </mc:Choice>
              <mc:Fallback>
                <p:oleObj name="Equation" r:id="rId3" imgW="13716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1" y="3733800"/>
                        <a:ext cx="3876675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1" name="Text Box 7"/>
          <p:cNvSpPr txBox="1">
            <a:spLocks noChangeArrowheads="1"/>
          </p:cNvSpPr>
          <p:nvPr/>
        </p:nvSpPr>
        <p:spPr bwMode="auto">
          <a:xfrm>
            <a:off x="2133600" y="4038600"/>
            <a:ext cx="25209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72712" name="Text Box 8"/>
          <p:cNvSpPr txBox="1">
            <a:spLocks noChangeArrowheads="1"/>
          </p:cNvSpPr>
          <p:nvPr/>
        </p:nvSpPr>
        <p:spPr bwMode="auto">
          <a:xfrm>
            <a:off x="4779964" y="503396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72713" name="Object 9"/>
          <p:cNvGraphicFramePr>
            <a:graphicFrameLocks noChangeAspect="1"/>
          </p:cNvGraphicFramePr>
          <p:nvPr/>
        </p:nvGraphicFramePr>
        <p:xfrm>
          <a:off x="2424114" y="5338764"/>
          <a:ext cx="4751387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5" name="Equation" r:id="rId5" imgW="1346040" imgH="215640" progId="Equation.3">
                  <p:embed/>
                </p:oleObj>
              </mc:Choice>
              <mc:Fallback>
                <p:oleObj name="Equation" r:id="rId5" imgW="13460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5338764"/>
                        <a:ext cx="4751387" cy="763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4" name="Object 10"/>
          <p:cNvGraphicFramePr>
            <a:graphicFrameLocks noChangeAspect="1"/>
          </p:cNvGraphicFramePr>
          <p:nvPr/>
        </p:nvGraphicFramePr>
        <p:xfrm>
          <a:off x="2279651" y="4508501"/>
          <a:ext cx="7921625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6" name="Equation" r:id="rId7" imgW="2908080" imgH="215640" progId="Equation.3">
                  <p:embed/>
                </p:oleObj>
              </mc:Choice>
              <mc:Fallback>
                <p:oleObj name="Equation" r:id="rId7" imgW="29080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1" y="4508501"/>
                        <a:ext cx="7921625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3901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33400"/>
            <a:ext cx="7793038" cy="1143000"/>
          </a:xfrm>
        </p:spPr>
        <p:txBody>
          <a:bodyPr/>
          <a:lstStyle/>
          <a:p>
            <a:r>
              <a:rPr lang="en-US" dirty="0"/>
              <a:t>Exercises.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905000"/>
            <a:ext cx="7772400" cy="4114800"/>
          </a:xfrm>
        </p:spPr>
        <p:txBody>
          <a:bodyPr/>
          <a:lstStyle/>
          <a:p>
            <a:pPr marL="609600" indent="-609600"/>
            <a:r>
              <a:rPr lang="en-US" sz="2400" dirty="0"/>
              <a:t>Use the master method to give tight asymptotic bounds for the following recurrences.</a:t>
            </a:r>
          </a:p>
          <a:p>
            <a:pPr marL="1371600" lvl="2" indent="-457200">
              <a:buFont typeface="Wingdings" panose="05000000000000000000" pitchFamily="2" charset="2"/>
              <a:buAutoNum type="arabicPeriod"/>
            </a:pPr>
            <a:r>
              <a:rPr lang="en-US" sz="1800" i="1" dirty="0"/>
              <a:t>T</a:t>
            </a:r>
            <a:r>
              <a:rPr lang="en-US" sz="1800" dirty="0"/>
              <a:t> (</a:t>
            </a:r>
            <a:r>
              <a:rPr lang="en-US" sz="1800" i="1" dirty="0"/>
              <a:t>n</a:t>
            </a:r>
            <a:r>
              <a:rPr lang="en-US" sz="1800" dirty="0"/>
              <a:t>) = 4</a:t>
            </a:r>
            <a:r>
              <a:rPr lang="en-US" sz="1800" i="1" dirty="0"/>
              <a:t>T</a:t>
            </a:r>
            <a:r>
              <a:rPr lang="en-US" sz="1800" dirty="0"/>
              <a:t>(</a:t>
            </a:r>
            <a:r>
              <a:rPr lang="en-US" sz="1800" i="1" dirty="0"/>
              <a:t>n</a:t>
            </a:r>
            <a:r>
              <a:rPr lang="en-US" sz="1800" dirty="0"/>
              <a:t>/2) + </a:t>
            </a:r>
            <a:r>
              <a:rPr lang="en-US" sz="1800" i="1" dirty="0"/>
              <a:t>n</a:t>
            </a:r>
            <a:r>
              <a:rPr lang="en-US" sz="1800" dirty="0"/>
              <a:t>.</a:t>
            </a:r>
          </a:p>
          <a:p>
            <a:pPr marL="1371600" lvl="2" indent="-457200">
              <a:buFont typeface="Wingdings" panose="05000000000000000000" pitchFamily="2" charset="2"/>
              <a:buAutoNum type="arabicPeriod"/>
            </a:pPr>
            <a:r>
              <a:rPr lang="en-US" sz="1800" i="1" dirty="0"/>
              <a:t>T</a:t>
            </a:r>
            <a:r>
              <a:rPr lang="en-US" sz="1800" dirty="0"/>
              <a:t> (</a:t>
            </a:r>
            <a:r>
              <a:rPr lang="en-US" sz="1800" i="1" dirty="0"/>
              <a:t>n</a:t>
            </a:r>
            <a:r>
              <a:rPr lang="en-US" sz="1800" dirty="0"/>
              <a:t>) = 4</a:t>
            </a:r>
            <a:r>
              <a:rPr lang="en-US" sz="1800" i="1" dirty="0"/>
              <a:t>T</a:t>
            </a:r>
            <a:r>
              <a:rPr lang="en-US" sz="1800" dirty="0"/>
              <a:t>(</a:t>
            </a:r>
            <a:r>
              <a:rPr lang="en-US" sz="1800" i="1" dirty="0"/>
              <a:t>n</a:t>
            </a:r>
            <a:r>
              <a:rPr lang="en-US" sz="1800" dirty="0"/>
              <a:t>/2) + </a:t>
            </a:r>
            <a:r>
              <a:rPr lang="en-US" sz="1800" i="1" dirty="0"/>
              <a:t>n</a:t>
            </a:r>
            <a:r>
              <a:rPr lang="en-US" sz="1800" baseline="30000" dirty="0"/>
              <a:t>2</a:t>
            </a:r>
            <a:r>
              <a:rPr lang="en-US" sz="1800" dirty="0"/>
              <a:t>.</a:t>
            </a:r>
          </a:p>
          <a:p>
            <a:pPr marL="1371600" lvl="2" indent="-457200">
              <a:buFont typeface="Wingdings" panose="05000000000000000000" pitchFamily="2" charset="2"/>
              <a:buAutoNum type="arabicPeriod"/>
            </a:pPr>
            <a:r>
              <a:rPr lang="en-US" sz="1800" i="1" dirty="0"/>
              <a:t>T</a:t>
            </a:r>
            <a:r>
              <a:rPr lang="en-US" sz="1800" dirty="0"/>
              <a:t> (</a:t>
            </a:r>
            <a:r>
              <a:rPr lang="en-US" sz="1800" i="1" dirty="0"/>
              <a:t>n</a:t>
            </a:r>
            <a:r>
              <a:rPr lang="en-US" sz="1800" dirty="0"/>
              <a:t>) = 4</a:t>
            </a:r>
            <a:r>
              <a:rPr lang="en-US" sz="1800" i="1" dirty="0"/>
              <a:t>T</a:t>
            </a:r>
            <a:r>
              <a:rPr lang="en-US" sz="1800" dirty="0"/>
              <a:t>(</a:t>
            </a:r>
            <a:r>
              <a:rPr lang="en-US" sz="1800" i="1" dirty="0"/>
              <a:t>n</a:t>
            </a:r>
            <a:r>
              <a:rPr lang="en-US" sz="1800" dirty="0"/>
              <a:t>/2) + </a:t>
            </a:r>
            <a:r>
              <a:rPr lang="en-US" sz="1800" i="1" dirty="0"/>
              <a:t>n</a:t>
            </a:r>
            <a:r>
              <a:rPr lang="en-US" sz="1800" baseline="30000" dirty="0"/>
              <a:t>3</a:t>
            </a:r>
            <a:r>
              <a:rPr lang="en-US" sz="1800" dirty="0"/>
              <a:t>.</a:t>
            </a:r>
          </a:p>
          <a:p>
            <a:pPr marL="609600" indent="-609600"/>
            <a:r>
              <a:rPr lang="en-US" sz="2400" dirty="0"/>
              <a:t>Use the master method to show that the solution to the binary-search recurrence </a:t>
            </a:r>
            <a:r>
              <a:rPr lang="en-US" sz="2400" i="1" dirty="0"/>
              <a:t>T</a:t>
            </a:r>
            <a:r>
              <a:rPr lang="en-US" sz="2400" dirty="0"/>
              <a:t>(</a:t>
            </a:r>
            <a:r>
              <a:rPr lang="en-US" sz="2400" i="1" dirty="0"/>
              <a:t>n</a:t>
            </a:r>
            <a:r>
              <a:rPr lang="en-US" sz="2400" dirty="0"/>
              <a:t>) = </a:t>
            </a:r>
            <a:r>
              <a:rPr lang="en-US" sz="2400" i="1" dirty="0"/>
              <a:t>T</a:t>
            </a:r>
            <a:r>
              <a:rPr lang="en-US" sz="2400" dirty="0"/>
              <a:t> (</a:t>
            </a:r>
            <a:r>
              <a:rPr lang="en-US" sz="2400" i="1" dirty="0"/>
              <a:t>n</a:t>
            </a:r>
            <a:r>
              <a:rPr lang="en-US" sz="2400" dirty="0"/>
              <a:t>/2) + Θ(1) is </a:t>
            </a:r>
            <a:r>
              <a:rPr lang="en-US" sz="2400" i="1" dirty="0"/>
              <a:t>T</a:t>
            </a:r>
            <a:r>
              <a:rPr lang="en-US" sz="2400" dirty="0"/>
              <a:t>(</a:t>
            </a:r>
            <a:r>
              <a:rPr lang="en-US" sz="2400" i="1" dirty="0"/>
              <a:t>n</a:t>
            </a:r>
            <a:r>
              <a:rPr lang="en-US" sz="2400" dirty="0"/>
              <a:t>) = Θ(</a:t>
            </a:r>
            <a:r>
              <a:rPr lang="en-US" sz="2400" dirty="0" err="1"/>
              <a:t>lg</a:t>
            </a:r>
            <a:r>
              <a:rPr lang="en-US" sz="2400" dirty="0"/>
              <a:t> </a:t>
            </a:r>
            <a:r>
              <a:rPr lang="en-US" sz="2400" i="1" dirty="0"/>
              <a:t>n</a:t>
            </a:r>
            <a:r>
              <a:rPr lang="en-US" sz="2400" dirty="0"/>
              <a:t>). 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AlgorithmsSri Lanka Institute of Information Technology.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136E7-981C-466F-A391-ED32C2A7DEE2}" type="slidenum">
              <a:rPr lang="en-US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262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5C82534-F570-47D0-B68B-77FF3196E0DA}" vid="{0BC3DA50-FEEF-43B6-860E-C898C0E591E6}"/>
    </a:ext>
  </a:extLst>
</a:theme>
</file>

<file path=ppt/theme/theme2.xml><?xml version="1.0" encoding="utf-8"?>
<a:theme xmlns:a="http://schemas.openxmlformats.org/drawingml/2006/main" name="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" id="{401F985E-0293-41C8-8C9F-C12C54DD4161}" vid="{CD74E18F-C672-456A-83A3-0778133BEA75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5C82534-F570-47D0-B68B-77FF3196E0DA}" vid="{0BC3DA50-FEEF-43B6-860E-C898C0E591E6}"/>
    </a:ext>
  </a:extLst>
</a:theme>
</file>

<file path=ppt/theme/theme4.xml><?xml version="1.0" encoding="utf-8"?>
<a:theme xmlns:a="http://schemas.openxmlformats.org/drawingml/2006/main" name="Presentation3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55DFB19D-8CD7-374E-93C3-3427CC06C4CD}"/>
    </a:ext>
  </a:extLst>
</a:theme>
</file>

<file path=ppt/theme/theme5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812AAC09-44D3-5540-A76F-F76F8887BB39}"/>
    </a:ext>
  </a:extLst>
</a:theme>
</file>

<file path=ppt/theme/theme6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D494B3FE-53B0-E440-9A9B-ABF54A0C63FE}"/>
    </a:ext>
  </a:extLst>
</a:theme>
</file>

<file path=ppt/theme/theme7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ABB46C2A-DBBF-2F44-9DD8-9AA6E3D75EB1}"/>
    </a:ext>
  </a:extLst>
</a:theme>
</file>

<file path=ppt/theme/theme8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3B148348-D753-0A4F-BC14-61EDA13F40B8}"/>
    </a:ext>
  </a:extLst>
</a:theme>
</file>

<file path=ppt/theme/theme9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488ED978-1793-4645-B706-86B5D451987D}" vid="{EAE29390-8B5E-4EF4-A794-C1496CF16FCA}"/>
    </a:ext>
  </a:extLst>
</a:theme>
</file>

<file path=ppt/theme/theme10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2829</TotalTime>
  <Words>1013</Words>
  <Application>Microsoft Office PowerPoint</Application>
  <PresentationFormat>Widescreen</PresentationFormat>
  <Paragraphs>183</Paragraphs>
  <Slides>22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10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41" baseType="lpstr">
      <vt:lpstr>Arial Unicode MS</vt:lpstr>
      <vt:lpstr>Arial</vt:lpstr>
      <vt:lpstr>Calibri</vt:lpstr>
      <vt:lpstr>Calibri Light</vt:lpstr>
      <vt:lpstr>Garamond</vt:lpstr>
      <vt:lpstr>Times New Roman</vt:lpstr>
      <vt:lpstr>Wingdings</vt:lpstr>
      <vt:lpstr>Custom Design</vt:lpstr>
      <vt:lpstr>lecture</vt:lpstr>
      <vt:lpstr>1_Custom Design</vt:lpstr>
      <vt:lpstr>Presentation3</vt:lpstr>
      <vt:lpstr>2_Custom Design</vt:lpstr>
      <vt:lpstr>3_Custom Design</vt:lpstr>
      <vt:lpstr>4_Custom Design</vt:lpstr>
      <vt:lpstr>5_Custom Design</vt:lpstr>
      <vt:lpstr>Theme1</vt:lpstr>
      <vt:lpstr>6_Custom Design</vt:lpstr>
      <vt:lpstr>Bitmap Image</vt:lpstr>
      <vt:lpstr>Equation</vt:lpstr>
      <vt:lpstr>PowerPoint Presentation</vt:lpstr>
      <vt:lpstr>Recursion –Example 1</vt:lpstr>
      <vt:lpstr>Factorial -A graphical view</vt:lpstr>
      <vt:lpstr>Exercise</vt:lpstr>
      <vt:lpstr>Factorial(contd.)</vt:lpstr>
      <vt:lpstr>Recursion</vt:lpstr>
      <vt:lpstr>Recurrence equation</vt:lpstr>
      <vt:lpstr>Recurrence - Example1</vt:lpstr>
      <vt:lpstr>Recurrence - Example1 (Contd.)</vt:lpstr>
      <vt:lpstr>Exercise</vt:lpstr>
      <vt:lpstr>Finding a solution to a recurrence.</vt:lpstr>
      <vt:lpstr>The recursion-tree method </vt:lpstr>
      <vt:lpstr>Recursion tree for T (n) = 3T (n/4) + cn2 </vt:lpstr>
      <vt:lpstr>Recursion tree for T (n) = 3T (n/4) + cn2</vt:lpstr>
      <vt:lpstr>The Master Method</vt:lpstr>
      <vt:lpstr>The master theorem </vt:lpstr>
      <vt:lpstr>The master theorem</vt:lpstr>
      <vt:lpstr>The master theorem</vt:lpstr>
      <vt:lpstr>Master Theorem – Case 1 example</vt:lpstr>
      <vt:lpstr>Master Theorem – Case 2 example </vt:lpstr>
      <vt:lpstr>Master Theorem – Case 3 example</vt:lpstr>
      <vt:lpstr>Exercises.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and Algorithms</dc:title>
  <dc:creator>Namalie Walgampaya</dc:creator>
  <cp:lastModifiedBy>Namalie Walgampaya</cp:lastModifiedBy>
  <cp:revision>44</cp:revision>
  <dcterms:created xsi:type="dcterms:W3CDTF">2018-05-27T05:47:50Z</dcterms:created>
  <dcterms:modified xsi:type="dcterms:W3CDTF">2023-03-06T05:10:32Z</dcterms:modified>
</cp:coreProperties>
</file>